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9"/>
  </p:notesMasterIdLst>
  <p:sldIdLst>
    <p:sldId id="257" r:id="rId2"/>
    <p:sldId id="350" r:id="rId3"/>
    <p:sldId id="351" r:id="rId4"/>
    <p:sldId id="352" r:id="rId5"/>
    <p:sldId id="353" r:id="rId6"/>
    <p:sldId id="355" r:id="rId7"/>
    <p:sldId id="376" r:id="rId8"/>
    <p:sldId id="356" r:id="rId9"/>
    <p:sldId id="357" r:id="rId10"/>
    <p:sldId id="358" r:id="rId11"/>
    <p:sldId id="359" r:id="rId12"/>
    <p:sldId id="360" r:id="rId13"/>
    <p:sldId id="375" r:id="rId14"/>
    <p:sldId id="361" r:id="rId15"/>
    <p:sldId id="362" r:id="rId16"/>
    <p:sldId id="363" r:id="rId17"/>
    <p:sldId id="364" r:id="rId18"/>
    <p:sldId id="365" r:id="rId19"/>
    <p:sldId id="366" r:id="rId20"/>
    <p:sldId id="367" r:id="rId21"/>
    <p:sldId id="368" r:id="rId22"/>
    <p:sldId id="369" r:id="rId23"/>
    <p:sldId id="370" r:id="rId24"/>
    <p:sldId id="371" r:id="rId25"/>
    <p:sldId id="372" r:id="rId26"/>
    <p:sldId id="373" r:id="rId27"/>
    <p:sldId id="374" r:id="rId28"/>
  </p:sldIdLst>
  <p:sldSz cx="12192000" cy="6858000"/>
  <p:notesSz cx="6858000" cy="9144000"/>
  <p:embeddedFontLst>
    <p:embeddedFont>
      <p:font typeface="Calibri" panose="020F0502020204030204" pitchFamily="34" charset="0"/>
      <p:regular r:id="rId30"/>
      <p:bold r:id="rId31"/>
      <p:italic r:id="rId32"/>
      <p:boldItalic r:id="rId33"/>
    </p:embeddedFont>
    <p:embeddedFont>
      <p:font typeface="Comic Sans MS" panose="030F0702030302020204" pitchFamily="66" charset="0"/>
      <p:regular r:id="rId34"/>
      <p:bold r:id="rId35"/>
      <p:italic r:id="rId36"/>
      <p:boldItalic r:id="rId37"/>
    </p:embeddedFont>
    <p:embeddedFont>
      <p:font typeface="Times" panose="02020603050405020304" pitchFamily="18"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2" roundtripDataSignature="AMtx7mjBjwGkP3Eo1cf5QDCR18hPFXRHf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9FF"/>
    <a:srgbClr val="BF9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67F2610-6C24-4C07-A39A-D0211FC8BD4F}">
  <a:tblStyle styleId="{E67F2610-6C24-4C07-A39A-D0211FC8BD4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3842" autoAdjust="0"/>
  </p:normalViewPr>
  <p:slideViewPr>
    <p:cSldViewPr snapToGrid="0">
      <p:cViewPr varScale="1">
        <p:scale>
          <a:sx n="80" d="100"/>
          <a:sy n="80" d="100"/>
        </p:scale>
        <p:origin x="533" y="53"/>
      </p:cViewPr>
      <p:guideLst>
        <p:guide orient="horz" pos="2160"/>
        <p:guide pos="3840"/>
      </p:guideLst>
    </p:cSldViewPr>
  </p:slideViewPr>
  <p:notesTextViewPr>
    <p:cViewPr>
      <p:scale>
        <a:sx n="1" d="1"/>
        <a:sy n="1" d="1"/>
      </p:scale>
      <p:origin x="0" y="0"/>
    </p:cViewPr>
  </p:notesTextViewPr>
  <p:sorterViewPr>
    <p:cViewPr>
      <p:scale>
        <a:sx n="87" d="100"/>
        <a:sy n="87"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12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124"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12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12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1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0"/>
        <p:cNvGrpSpPr/>
        <p:nvPr/>
      </p:nvGrpSpPr>
      <p:grpSpPr>
        <a:xfrm>
          <a:off x="0" y="0"/>
          <a:ext cx="0" cy="0"/>
          <a:chOff x="0" y="0"/>
          <a:chExt cx="0" cy="0"/>
        </a:xfrm>
      </p:grpSpPr>
      <p:sp>
        <p:nvSpPr>
          <p:cNvPr id="91" name="Google Shape;91;p4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4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3" name="Google Shape;93;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5"/>
        <p:cNvGrpSpPr/>
        <p:nvPr/>
      </p:nvGrpSpPr>
      <p:grpSpPr>
        <a:xfrm>
          <a:off x="0" y="0"/>
          <a:ext cx="0" cy="0"/>
          <a:chOff x="0" y="0"/>
          <a:chExt cx="0" cy="0"/>
        </a:xfrm>
      </p:grpSpPr>
      <p:sp>
        <p:nvSpPr>
          <p:cNvPr id="126" name="Google Shape;126;p5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p5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8" name="Google Shape;128;p5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9" name="Google Shape;129;p5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30" name="Google Shape;130;p5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1" name="Google Shape;131;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9"/>
        <p:cNvGrpSpPr/>
        <p:nvPr/>
      </p:nvGrpSpPr>
      <p:grpSpPr>
        <a:xfrm>
          <a:off x="0" y="0"/>
          <a:ext cx="0" cy="0"/>
          <a:chOff x="0" y="0"/>
          <a:chExt cx="0" cy="0"/>
        </a:xfrm>
      </p:grpSpPr>
      <p:sp>
        <p:nvSpPr>
          <p:cNvPr id="140" name="Google Shape;140;p5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p5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42" name="Google Shape;142;p5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3" name="Google Shape;143;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6"/>
        <p:cNvGrpSpPr/>
        <p:nvPr/>
      </p:nvGrpSpPr>
      <p:grpSpPr>
        <a:xfrm>
          <a:off x="0" y="0"/>
          <a:ext cx="0" cy="0"/>
          <a:chOff x="0" y="0"/>
          <a:chExt cx="0" cy="0"/>
        </a:xfrm>
      </p:grpSpPr>
      <p:sp>
        <p:nvSpPr>
          <p:cNvPr id="147" name="Google Shape;147;p5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8" name="Google Shape;148;p57"/>
          <p:cNvSpPr>
            <a:spLocks noGrp="1"/>
          </p:cNvSpPr>
          <p:nvPr>
            <p:ph type="pic" idx="2"/>
          </p:nvPr>
        </p:nvSpPr>
        <p:spPr>
          <a:xfrm>
            <a:off x="5183188" y="987425"/>
            <a:ext cx="6172200" cy="4873625"/>
          </a:xfrm>
          <a:prstGeom prst="rect">
            <a:avLst/>
          </a:prstGeom>
          <a:noFill/>
          <a:ln>
            <a:noFill/>
          </a:ln>
        </p:spPr>
      </p:sp>
      <p:sp>
        <p:nvSpPr>
          <p:cNvPr id="149" name="Google Shape;149;p5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50" name="Google Shape;150;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3"/>
        <p:cNvGrpSpPr/>
        <p:nvPr/>
      </p:nvGrpSpPr>
      <p:grpSpPr>
        <a:xfrm>
          <a:off x="0" y="0"/>
          <a:ext cx="0" cy="0"/>
          <a:chOff x="0" y="0"/>
          <a:chExt cx="0" cy="0"/>
        </a:xfrm>
      </p:grpSpPr>
      <p:sp>
        <p:nvSpPr>
          <p:cNvPr id="154" name="Google Shape;154;p5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p5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9"/>
        <p:cNvGrpSpPr/>
        <p:nvPr/>
      </p:nvGrpSpPr>
      <p:grpSpPr>
        <a:xfrm>
          <a:off x="0" y="0"/>
          <a:ext cx="0" cy="0"/>
          <a:chOff x="0" y="0"/>
          <a:chExt cx="0" cy="0"/>
        </a:xfrm>
      </p:grpSpPr>
      <p:sp>
        <p:nvSpPr>
          <p:cNvPr id="160" name="Google Shape;160;p5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1" name="Google Shape;161;p5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2" name="Google Shape;162;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8">
            <a:alphaModFix/>
          </a:blip>
          <a:stretch>
            <a:fillRect/>
          </a:stretch>
        </a:blipFill>
        <a:effectLst/>
      </p:bgPr>
    </p:bg>
    <p:spTree>
      <p:nvGrpSpPr>
        <p:cNvPr id="1" name="Shape 84"/>
        <p:cNvGrpSpPr/>
        <p:nvPr/>
      </p:nvGrpSpPr>
      <p:grpSpPr>
        <a:xfrm>
          <a:off x="0" y="0"/>
          <a:ext cx="0" cy="0"/>
          <a:chOff x="0" y="0"/>
          <a:chExt cx="0" cy="0"/>
        </a:xfrm>
      </p:grpSpPr>
      <p:sp>
        <p:nvSpPr>
          <p:cNvPr id="85" name="Google Shape;85;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6" name="Google Shape;86;p4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7" r:id="rId2"/>
    <p:sldLayoutId id="2147483669" r:id="rId3"/>
    <p:sldLayoutId id="2147483670" r:id="rId4"/>
    <p:sldLayoutId id="2147483671" r:id="rId5"/>
    <p:sldLayoutId id="2147483672"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
          <p:cNvSpPr txBox="1">
            <a:spLocks noGrp="1"/>
          </p:cNvSpPr>
          <p:nvPr>
            <p:ph type="ctrTitle"/>
          </p:nvPr>
        </p:nvSpPr>
        <p:spPr>
          <a:xfrm>
            <a:off x="264160" y="1571947"/>
            <a:ext cx="11663680" cy="1569074"/>
          </a:xfrm>
          <a:prstGeom prst="rect">
            <a:avLst/>
          </a:prstGeom>
          <a:solidFill>
            <a:srgbClr val="EDEDED"/>
          </a:solidFill>
          <a:ln w="76200" cap="flat" cmpd="sng">
            <a:solidFill>
              <a:schemeClr val="dk1"/>
            </a:solidFill>
            <a:prstDash val="solid"/>
            <a:round/>
            <a:headEnd type="none" w="sm" len="sm"/>
            <a:tailEnd type="none" w="sm" len="sm"/>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rgbClr val="1F3864"/>
              </a:buClr>
              <a:buSzPct val="100000"/>
              <a:buFont typeface="Times"/>
              <a:buNone/>
            </a:pPr>
            <a:br>
              <a:rPr lang="en-IN" sz="5300" b="1" dirty="0">
                <a:solidFill>
                  <a:srgbClr val="1F3864"/>
                </a:solidFill>
                <a:latin typeface="Times"/>
                <a:ea typeface="Times"/>
                <a:cs typeface="Times"/>
                <a:sym typeface="Times"/>
              </a:rPr>
            </a:br>
            <a:br>
              <a:rPr lang="en-IN" sz="5300" b="1" dirty="0">
                <a:solidFill>
                  <a:srgbClr val="1F3864"/>
                </a:solidFill>
                <a:latin typeface="Times"/>
                <a:ea typeface="Times"/>
                <a:cs typeface="Times"/>
                <a:sym typeface="Times"/>
              </a:rPr>
            </a:br>
            <a:r>
              <a:rPr lang="en-IN" sz="5300" b="1" dirty="0">
                <a:solidFill>
                  <a:srgbClr val="1F3864"/>
                </a:solidFill>
                <a:latin typeface="Times"/>
                <a:ea typeface="Times"/>
                <a:cs typeface="Times"/>
                <a:sym typeface="Times"/>
              </a:rPr>
              <a:t>	Practicum Presentation:2</a:t>
            </a:r>
            <a:r>
              <a:rPr lang="en-IN" sz="5300" b="1" baseline="30000" dirty="0">
                <a:solidFill>
                  <a:srgbClr val="1F3864"/>
                </a:solidFill>
                <a:latin typeface="Times"/>
                <a:ea typeface="Times"/>
                <a:cs typeface="Times"/>
                <a:sym typeface="Times"/>
              </a:rPr>
              <a:t>nd</a:t>
            </a:r>
            <a:r>
              <a:rPr lang="en-IN" sz="5300" b="1" dirty="0">
                <a:solidFill>
                  <a:srgbClr val="1F3864"/>
                </a:solidFill>
                <a:latin typeface="Times"/>
                <a:ea typeface="Times"/>
                <a:cs typeface="Times"/>
                <a:sym typeface="Times"/>
              </a:rPr>
              <a:t> </a:t>
            </a:r>
            <a:r>
              <a:rPr lang="en-IN" sz="5300" b="1" dirty="0" err="1">
                <a:solidFill>
                  <a:srgbClr val="1F3864"/>
                </a:solidFill>
                <a:latin typeface="Times"/>
                <a:ea typeface="Times"/>
                <a:cs typeface="Times"/>
                <a:sym typeface="Times"/>
              </a:rPr>
              <a:t>Defense</a:t>
            </a:r>
            <a:br>
              <a:rPr lang="en-IN" sz="5300" b="1" dirty="0">
                <a:solidFill>
                  <a:srgbClr val="1F3864"/>
                </a:solidFill>
                <a:latin typeface="Times"/>
                <a:ea typeface="Times"/>
                <a:cs typeface="Times"/>
                <a:sym typeface="Times"/>
              </a:rPr>
            </a:br>
            <a:r>
              <a:rPr lang="en-IN" sz="5300" b="1" dirty="0">
                <a:solidFill>
                  <a:srgbClr val="1F3864"/>
                </a:solidFill>
                <a:latin typeface="Times"/>
                <a:ea typeface="Times"/>
                <a:cs typeface="Times"/>
                <a:sym typeface="Times"/>
              </a:rPr>
              <a:t>Topic: Credit Card Fraud Detection</a:t>
            </a:r>
            <a:endParaRPr sz="5000" b="1" dirty="0">
              <a:solidFill>
                <a:srgbClr val="002060"/>
              </a:solidFill>
              <a:latin typeface="Times"/>
              <a:ea typeface="Times"/>
              <a:cs typeface="Times"/>
              <a:sym typeface="Times"/>
            </a:endParaRPr>
          </a:p>
        </p:txBody>
      </p:sp>
      <p:pic>
        <p:nvPicPr>
          <p:cNvPr id="3" name="Picture 2">
            <a:extLst>
              <a:ext uri="{FF2B5EF4-FFF2-40B4-BE49-F238E27FC236}">
                <a16:creationId xmlns:a16="http://schemas.microsoft.com/office/drawing/2014/main" id="{159DD3EE-0033-964D-F38E-5502B1844E1A}"/>
              </a:ext>
            </a:extLst>
          </p:cNvPr>
          <p:cNvPicPr>
            <a:picLocks noChangeAspect="1"/>
          </p:cNvPicPr>
          <p:nvPr/>
        </p:nvPicPr>
        <p:blipFill rotWithShape="1">
          <a:blip r:embed="rId3"/>
          <a:srcRect l="10536" t="16197" r="7963" b="26713"/>
          <a:stretch/>
        </p:blipFill>
        <p:spPr>
          <a:xfrm>
            <a:off x="9072880" y="169847"/>
            <a:ext cx="2895600" cy="1158240"/>
          </a:xfrm>
          <a:prstGeom prst="rect">
            <a:avLst/>
          </a:prstGeom>
        </p:spPr>
      </p:pic>
      <p:sp>
        <p:nvSpPr>
          <p:cNvPr id="4" name="Subtitle 3">
            <a:extLst>
              <a:ext uri="{FF2B5EF4-FFF2-40B4-BE49-F238E27FC236}">
                <a16:creationId xmlns:a16="http://schemas.microsoft.com/office/drawing/2014/main" id="{75FFEC59-BB09-CA2D-A7B4-3AC02A91BD27}"/>
              </a:ext>
            </a:extLst>
          </p:cNvPr>
          <p:cNvSpPr>
            <a:spLocks noGrp="1"/>
          </p:cNvSpPr>
          <p:nvPr>
            <p:ph type="subTitle" idx="1"/>
          </p:nvPr>
        </p:nvSpPr>
        <p:spPr>
          <a:xfrm>
            <a:off x="1739757" y="3429001"/>
            <a:ext cx="8712485" cy="2758440"/>
          </a:xfrm>
          <a:solidFill>
            <a:schemeClr val="accent1">
              <a:lumMod val="20000"/>
              <a:lumOff val="80000"/>
            </a:schemeClr>
          </a:solidFill>
        </p:spPr>
        <p:txBody>
          <a:bodyPr>
            <a:noAutofit/>
          </a:bodyPr>
          <a:lstStyle/>
          <a:p>
            <a:r>
              <a:rPr lang="en-IN" sz="2700" b="1" dirty="0">
                <a:solidFill>
                  <a:srgbClr val="002060"/>
                </a:solidFill>
                <a:latin typeface="Times New Roman" panose="02020603050405020304" pitchFamily="18" charset="0"/>
                <a:cs typeface="Times New Roman" panose="02020603050405020304" pitchFamily="18" charset="0"/>
              </a:rPr>
              <a:t>MANIK DIWAN       (01917711621) AI&amp;ML</a:t>
            </a:r>
          </a:p>
          <a:p>
            <a:r>
              <a:rPr lang="en-IN" sz="2700" b="1" dirty="0">
                <a:solidFill>
                  <a:srgbClr val="002060"/>
                </a:solidFill>
                <a:latin typeface="Times New Roman" panose="02020603050405020304" pitchFamily="18" charset="0"/>
                <a:cs typeface="Times New Roman" panose="02020603050405020304" pitchFamily="18" charset="0"/>
              </a:rPr>
              <a:t>KRISHNA GOEL     (02717711621) AI&amp;ML</a:t>
            </a:r>
          </a:p>
          <a:p>
            <a:endParaRPr lang="en-IN" sz="2700" b="1" dirty="0">
              <a:solidFill>
                <a:srgbClr val="002060"/>
              </a:solidFill>
              <a:latin typeface="Times New Roman" panose="02020603050405020304" pitchFamily="18" charset="0"/>
              <a:cs typeface="Times New Roman" panose="02020603050405020304" pitchFamily="18" charset="0"/>
            </a:endParaRPr>
          </a:p>
          <a:p>
            <a:r>
              <a:rPr lang="en-IN" sz="2700" b="1" dirty="0">
                <a:solidFill>
                  <a:srgbClr val="002060"/>
                </a:solidFill>
                <a:latin typeface="Times New Roman" panose="02020603050405020304" pitchFamily="18" charset="0"/>
                <a:cs typeface="Times New Roman" panose="02020603050405020304" pitchFamily="18" charset="0"/>
              </a:rPr>
              <a:t>Supervisor: </a:t>
            </a:r>
            <a:r>
              <a:rPr lang="en-IN" sz="2700" b="1" dirty="0" err="1">
                <a:solidFill>
                  <a:srgbClr val="002060"/>
                </a:solidFill>
                <a:latin typeface="Times New Roman" panose="02020603050405020304" pitchFamily="18" charset="0"/>
                <a:cs typeface="Times New Roman" panose="02020603050405020304" pitchFamily="18" charset="0"/>
              </a:rPr>
              <a:t>Dr.Gopal</a:t>
            </a:r>
            <a:endParaRPr lang="en-IN" sz="2700" b="1" dirty="0">
              <a:solidFill>
                <a:srgbClr val="002060"/>
              </a:solidFill>
              <a:latin typeface="Times New Roman" panose="02020603050405020304" pitchFamily="18" charset="0"/>
              <a:cs typeface="Times New Roman" panose="02020603050405020304" pitchFamily="18" charset="0"/>
            </a:endParaRPr>
          </a:p>
          <a:p>
            <a:endParaRPr lang="en-IN" sz="2700" b="1" dirty="0">
              <a:solidFill>
                <a:srgbClr val="002060"/>
              </a:solidFill>
              <a:latin typeface="Times New Roman" panose="02020603050405020304" pitchFamily="18" charset="0"/>
              <a:cs typeface="Times New Roman" panose="02020603050405020304" pitchFamily="18" charset="0"/>
            </a:endParaRPr>
          </a:p>
          <a:p>
            <a:endParaRPr lang="en-IN" sz="2700" b="1" dirty="0">
              <a:solidFill>
                <a:srgbClr val="00206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53D0315-99F6-D6DD-3716-30E56FE43151}"/>
              </a:ext>
            </a:extLst>
          </p:cNvPr>
          <p:cNvPicPr>
            <a:picLocks noChangeAspect="1"/>
          </p:cNvPicPr>
          <p:nvPr/>
        </p:nvPicPr>
        <p:blipFill>
          <a:blip r:embed="rId4"/>
          <a:stretch>
            <a:fillRect/>
          </a:stretch>
        </p:blipFill>
        <p:spPr>
          <a:xfrm>
            <a:off x="8765222" y="6187440"/>
            <a:ext cx="3426778" cy="5007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9FCE1-9A77-12F5-CE95-4FD09AFD1CDD}"/>
              </a:ext>
            </a:extLst>
          </p:cNvPr>
          <p:cNvSpPr>
            <a:spLocks noGrp="1"/>
          </p:cNvSpPr>
          <p:nvPr>
            <p:ph type="title"/>
          </p:nvPr>
        </p:nvSpPr>
        <p:spPr>
          <a:xfrm>
            <a:off x="1493520" y="144485"/>
            <a:ext cx="10515600" cy="1325563"/>
          </a:xfrm>
        </p:spPr>
        <p:txBody>
          <a:bodyPr>
            <a:normAutofit/>
          </a:bodyPr>
          <a:lstStyle/>
          <a:p>
            <a:r>
              <a:rPr lang="en-IN" sz="5400" b="1" dirty="0"/>
              <a:t>Index of Contents</a:t>
            </a:r>
          </a:p>
        </p:txBody>
      </p:sp>
      <p:pic>
        <p:nvPicPr>
          <p:cNvPr id="3" name="Picture 2">
            <a:extLst>
              <a:ext uri="{FF2B5EF4-FFF2-40B4-BE49-F238E27FC236}">
                <a16:creationId xmlns:a16="http://schemas.microsoft.com/office/drawing/2014/main" id="{24A3FB24-0BE8-6763-BB6B-288D627B057E}"/>
              </a:ext>
            </a:extLst>
          </p:cNvPr>
          <p:cNvPicPr>
            <a:picLocks noChangeAspect="1"/>
          </p:cNvPicPr>
          <p:nvPr/>
        </p:nvPicPr>
        <p:blipFill rotWithShape="1">
          <a:blip r:embed="rId2"/>
          <a:srcRect l="10536" t="16197" r="7963" b="26713"/>
          <a:stretch/>
        </p:blipFill>
        <p:spPr>
          <a:xfrm>
            <a:off x="9113520" y="93901"/>
            <a:ext cx="2895600" cy="1158240"/>
          </a:xfrm>
          <a:prstGeom prst="rect">
            <a:avLst/>
          </a:prstGeom>
        </p:spPr>
      </p:pic>
      <p:pic>
        <p:nvPicPr>
          <p:cNvPr id="5" name="Picture 4">
            <a:extLst>
              <a:ext uri="{FF2B5EF4-FFF2-40B4-BE49-F238E27FC236}">
                <a16:creationId xmlns:a16="http://schemas.microsoft.com/office/drawing/2014/main" id="{D1742547-1501-DDAE-CD8D-E010DBE510F2}"/>
              </a:ext>
            </a:extLst>
          </p:cNvPr>
          <p:cNvPicPr>
            <a:picLocks noChangeAspect="1"/>
          </p:cNvPicPr>
          <p:nvPr/>
        </p:nvPicPr>
        <p:blipFill>
          <a:blip r:embed="rId3"/>
          <a:stretch>
            <a:fillRect/>
          </a:stretch>
        </p:blipFill>
        <p:spPr>
          <a:xfrm>
            <a:off x="8765222" y="6187440"/>
            <a:ext cx="3426778" cy="500713"/>
          </a:xfrm>
          <a:prstGeom prst="rect">
            <a:avLst/>
          </a:prstGeom>
        </p:spPr>
      </p:pic>
      <p:sp>
        <p:nvSpPr>
          <p:cNvPr id="8" name="Text Placeholder 7">
            <a:extLst>
              <a:ext uri="{FF2B5EF4-FFF2-40B4-BE49-F238E27FC236}">
                <a16:creationId xmlns:a16="http://schemas.microsoft.com/office/drawing/2014/main" id="{75418370-6B08-9202-E2FD-FD174AADC352}"/>
              </a:ext>
            </a:extLst>
          </p:cNvPr>
          <p:cNvSpPr>
            <a:spLocks noGrp="1"/>
          </p:cNvSpPr>
          <p:nvPr>
            <p:ph type="body" idx="2"/>
          </p:nvPr>
        </p:nvSpPr>
        <p:spPr>
          <a:xfrm>
            <a:off x="839787" y="1395465"/>
            <a:ext cx="10515599" cy="4405259"/>
          </a:xfrm>
        </p:spPr>
        <p:txBody>
          <a:bodyPr>
            <a:noAutofit/>
          </a:bodyPr>
          <a:lstStyle/>
          <a:p>
            <a:pPr marL="628650" indent="-514350" algn="just">
              <a:buSzPct val="100000"/>
              <a:buAutoNum type="arabicPeriod"/>
            </a:pPr>
            <a:r>
              <a:rPr lang="en-IN" sz="3300" dirty="0">
                <a:latin typeface="Times New Roman" panose="02020603050405020304" pitchFamily="18" charset="0"/>
                <a:cs typeface="Times New Roman" panose="02020603050405020304" pitchFamily="18" charset="0"/>
              </a:rPr>
              <a:t>Introduction &amp; Motivation</a:t>
            </a:r>
          </a:p>
          <a:p>
            <a:pPr marL="628650" indent="-514350" algn="just">
              <a:buSzPct val="100000"/>
              <a:buAutoNum type="arabicPeriod"/>
            </a:pPr>
            <a:r>
              <a:rPr lang="en-IN" sz="3300" dirty="0">
                <a:latin typeface="Times New Roman" panose="02020603050405020304" pitchFamily="18" charset="0"/>
                <a:cs typeface="Times New Roman" panose="02020603050405020304" pitchFamily="18" charset="0"/>
              </a:rPr>
              <a:t>Problem Statement</a:t>
            </a:r>
          </a:p>
          <a:p>
            <a:pPr marL="628650" indent="-514350" algn="just">
              <a:buSzPct val="100000"/>
              <a:buAutoNum type="arabicPeriod"/>
            </a:pPr>
            <a:r>
              <a:rPr lang="en-IN" sz="3300" dirty="0">
                <a:latin typeface="Times New Roman" panose="02020603050405020304" pitchFamily="18" charset="0"/>
                <a:cs typeface="Times New Roman" panose="02020603050405020304" pitchFamily="18" charset="0"/>
              </a:rPr>
              <a:t>Background Study</a:t>
            </a:r>
          </a:p>
          <a:p>
            <a:pPr marL="628650" indent="-514350" algn="just">
              <a:buSzPct val="100000"/>
              <a:buAutoNum type="arabicPeriod"/>
            </a:pPr>
            <a:r>
              <a:rPr lang="en-IN" sz="3300" dirty="0">
                <a:latin typeface="Times New Roman" panose="02020603050405020304" pitchFamily="18" charset="0"/>
                <a:cs typeface="Times New Roman" panose="02020603050405020304" pitchFamily="18" charset="0"/>
              </a:rPr>
              <a:t>Project Progress/Implementation(screenshots/video etc.)</a:t>
            </a:r>
          </a:p>
          <a:p>
            <a:pPr marL="628650" indent="-514350" algn="just">
              <a:buSzPct val="100000"/>
              <a:buAutoNum type="arabicPeriod"/>
            </a:pPr>
            <a:r>
              <a:rPr lang="en-IN" sz="3300" dirty="0">
                <a:latin typeface="Times New Roman" panose="02020603050405020304" pitchFamily="18" charset="0"/>
                <a:cs typeface="Times New Roman" panose="02020603050405020304" pitchFamily="18" charset="0"/>
              </a:rPr>
              <a:t>Results</a:t>
            </a:r>
          </a:p>
          <a:p>
            <a:pPr marL="628650" indent="-514350" algn="just">
              <a:buSzPct val="100000"/>
              <a:buAutoNum type="arabicPeriod"/>
            </a:pPr>
            <a:r>
              <a:rPr lang="en-IN" sz="3300" dirty="0">
                <a:latin typeface="Times New Roman" panose="02020603050405020304" pitchFamily="18" charset="0"/>
                <a:cs typeface="Times New Roman" panose="02020603050405020304" pitchFamily="18" charset="0"/>
              </a:rPr>
              <a:t>Conclusion</a:t>
            </a:r>
          </a:p>
          <a:p>
            <a:pPr marL="114300" indent="0" algn="just">
              <a:buNone/>
            </a:pPr>
            <a:endParaRPr lang="en-IN" sz="3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0018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9FCE1-9A77-12F5-CE95-4FD09AFD1CDD}"/>
              </a:ext>
            </a:extLst>
          </p:cNvPr>
          <p:cNvSpPr>
            <a:spLocks noGrp="1"/>
          </p:cNvSpPr>
          <p:nvPr>
            <p:ph type="title"/>
          </p:nvPr>
        </p:nvSpPr>
        <p:spPr>
          <a:xfrm>
            <a:off x="722959" y="161006"/>
            <a:ext cx="10515600" cy="1325563"/>
          </a:xfrm>
        </p:spPr>
        <p:txBody>
          <a:bodyPr>
            <a:normAutofit/>
          </a:bodyPr>
          <a:lstStyle/>
          <a:p>
            <a:r>
              <a:rPr lang="en-IN" sz="4500" b="1" dirty="0">
                <a:latin typeface="Times New Roman" panose="02020603050405020304" pitchFamily="18" charset="0"/>
                <a:cs typeface="Times New Roman" panose="02020603050405020304" pitchFamily="18" charset="0"/>
              </a:rPr>
              <a:t>1. Introduction &amp; Motivation</a:t>
            </a:r>
            <a:endParaRPr lang="en-IN" sz="4500" b="1" dirty="0"/>
          </a:p>
        </p:txBody>
      </p:sp>
      <p:pic>
        <p:nvPicPr>
          <p:cNvPr id="3" name="Picture 2">
            <a:extLst>
              <a:ext uri="{FF2B5EF4-FFF2-40B4-BE49-F238E27FC236}">
                <a16:creationId xmlns:a16="http://schemas.microsoft.com/office/drawing/2014/main" id="{24A3FB24-0BE8-6763-BB6B-288D627B057E}"/>
              </a:ext>
            </a:extLst>
          </p:cNvPr>
          <p:cNvPicPr>
            <a:picLocks noChangeAspect="1"/>
          </p:cNvPicPr>
          <p:nvPr/>
        </p:nvPicPr>
        <p:blipFill rotWithShape="1">
          <a:blip r:embed="rId2"/>
          <a:srcRect l="10536" t="16197" r="7963" b="26713"/>
          <a:stretch/>
        </p:blipFill>
        <p:spPr>
          <a:xfrm>
            <a:off x="9113520" y="73353"/>
            <a:ext cx="2895600" cy="1158240"/>
          </a:xfrm>
          <a:prstGeom prst="rect">
            <a:avLst/>
          </a:prstGeom>
        </p:spPr>
      </p:pic>
      <p:pic>
        <p:nvPicPr>
          <p:cNvPr id="5" name="Picture 4">
            <a:extLst>
              <a:ext uri="{FF2B5EF4-FFF2-40B4-BE49-F238E27FC236}">
                <a16:creationId xmlns:a16="http://schemas.microsoft.com/office/drawing/2014/main" id="{D1742547-1501-DDAE-CD8D-E010DBE510F2}"/>
              </a:ext>
            </a:extLst>
          </p:cNvPr>
          <p:cNvPicPr>
            <a:picLocks noChangeAspect="1"/>
          </p:cNvPicPr>
          <p:nvPr/>
        </p:nvPicPr>
        <p:blipFill>
          <a:blip r:embed="rId3"/>
          <a:stretch>
            <a:fillRect/>
          </a:stretch>
        </p:blipFill>
        <p:spPr>
          <a:xfrm>
            <a:off x="8765222" y="6187440"/>
            <a:ext cx="3426778" cy="500713"/>
          </a:xfrm>
          <a:prstGeom prst="rect">
            <a:avLst/>
          </a:prstGeom>
        </p:spPr>
      </p:pic>
      <p:sp>
        <p:nvSpPr>
          <p:cNvPr id="8" name="Text Placeholder 7">
            <a:extLst>
              <a:ext uri="{FF2B5EF4-FFF2-40B4-BE49-F238E27FC236}">
                <a16:creationId xmlns:a16="http://schemas.microsoft.com/office/drawing/2014/main" id="{75418370-6B08-9202-E2FD-FD174AADC352}"/>
              </a:ext>
            </a:extLst>
          </p:cNvPr>
          <p:cNvSpPr>
            <a:spLocks noGrp="1"/>
          </p:cNvSpPr>
          <p:nvPr>
            <p:ph type="body" idx="2"/>
          </p:nvPr>
        </p:nvSpPr>
        <p:spPr>
          <a:xfrm>
            <a:off x="839787" y="1395466"/>
            <a:ext cx="10515599" cy="4148084"/>
          </a:xfrm>
        </p:spPr>
        <p:txBody>
          <a:bodyPr>
            <a:noAutofit/>
          </a:bodyPr>
          <a:lstStyle/>
          <a:p>
            <a:pPr marL="285750" marR="75565" indent="-285750" algn="just">
              <a:lnSpc>
                <a:spcPct val="150000"/>
              </a:lnSpc>
              <a:spcAft>
                <a:spcPts val="800"/>
              </a:spcAft>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Credit card fraud detection is a critical aspect of the financial industry. The rise in online transactions has made it easier for fraudsters to exploit vulnerabilities in payment systems and steal credit card information. To prevent such fraudulent activities, various fraud detection techniques are employed by financial institutions and merchants. </a:t>
            </a:r>
          </a:p>
          <a:p>
            <a:pPr marL="285750" marR="75565" indent="-285750" algn="just">
              <a:lnSpc>
                <a:spcPct val="150000"/>
              </a:lnSpc>
              <a:spcAft>
                <a:spcPts val="800"/>
              </a:spcAft>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The primary objective of credit card fraud detection is to identify fraudulent transactions accurately while minimizing false positives. Fraud detection systems use machine learning algorithms and statistical analysis to identify suspicious patterns and behaviors that indicate fraudulent activity. </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7015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9FCE1-9A77-12F5-CE95-4FD09AFD1CDD}"/>
              </a:ext>
            </a:extLst>
          </p:cNvPr>
          <p:cNvSpPr>
            <a:spLocks noGrp="1"/>
          </p:cNvSpPr>
          <p:nvPr>
            <p:ph type="title"/>
          </p:nvPr>
        </p:nvSpPr>
        <p:spPr>
          <a:xfrm>
            <a:off x="722959" y="161006"/>
            <a:ext cx="10515600" cy="1325563"/>
          </a:xfrm>
        </p:spPr>
        <p:txBody>
          <a:bodyPr>
            <a:normAutofit/>
          </a:bodyPr>
          <a:lstStyle/>
          <a:p>
            <a:r>
              <a:rPr lang="en-IN" sz="4500" b="1" dirty="0">
                <a:latin typeface="Times New Roman" panose="02020603050405020304" pitchFamily="18" charset="0"/>
                <a:cs typeface="Times New Roman" panose="02020603050405020304" pitchFamily="18" charset="0"/>
              </a:rPr>
              <a:t>1. Introduction &amp; Motivation</a:t>
            </a:r>
            <a:endParaRPr lang="en-IN" sz="4500" b="1" dirty="0"/>
          </a:p>
        </p:txBody>
      </p:sp>
      <p:pic>
        <p:nvPicPr>
          <p:cNvPr id="3" name="Picture 2">
            <a:extLst>
              <a:ext uri="{FF2B5EF4-FFF2-40B4-BE49-F238E27FC236}">
                <a16:creationId xmlns:a16="http://schemas.microsoft.com/office/drawing/2014/main" id="{24A3FB24-0BE8-6763-BB6B-288D627B057E}"/>
              </a:ext>
            </a:extLst>
          </p:cNvPr>
          <p:cNvPicPr>
            <a:picLocks noChangeAspect="1"/>
          </p:cNvPicPr>
          <p:nvPr/>
        </p:nvPicPr>
        <p:blipFill rotWithShape="1">
          <a:blip r:embed="rId2"/>
          <a:srcRect l="10536" t="16197" r="7963" b="26713"/>
          <a:stretch/>
        </p:blipFill>
        <p:spPr>
          <a:xfrm>
            <a:off x="9113520" y="73353"/>
            <a:ext cx="2895600" cy="1158240"/>
          </a:xfrm>
          <a:prstGeom prst="rect">
            <a:avLst/>
          </a:prstGeom>
        </p:spPr>
      </p:pic>
      <p:pic>
        <p:nvPicPr>
          <p:cNvPr id="5" name="Picture 4">
            <a:extLst>
              <a:ext uri="{FF2B5EF4-FFF2-40B4-BE49-F238E27FC236}">
                <a16:creationId xmlns:a16="http://schemas.microsoft.com/office/drawing/2014/main" id="{D1742547-1501-DDAE-CD8D-E010DBE510F2}"/>
              </a:ext>
            </a:extLst>
          </p:cNvPr>
          <p:cNvPicPr>
            <a:picLocks noChangeAspect="1"/>
          </p:cNvPicPr>
          <p:nvPr/>
        </p:nvPicPr>
        <p:blipFill>
          <a:blip r:embed="rId3"/>
          <a:stretch>
            <a:fillRect/>
          </a:stretch>
        </p:blipFill>
        <p:spPr>
          <a:xfrm>
            <a:off x="8765222" y="6187440"/>
            <a:ext cx="3426778" cy="500713"/>
          </a:xfrm>
          <a:prstGeom prst="rect">
            <a:avLst/>
          </a:prstGeom>
        </p:spPr>
      </p:pic>
      <p:sp>
        <p:nvSpPr>
          <p:cNvPr id="8" name="Text Placeholder 7">
            <a:extLst>
              <a:ext uri="{FF2B5EF4-FFF2-40B4-BE49-F238E27FC236}">
                <a16:creationId xmlns:a16="http://schemas.microsoft.com/office/drawing/2014/main" id="{75418370-6B08-9202-E2FD-FD174AADC352}"/>
              </a:ext>
            </a:extLst>
          </p:cNvPr>
          <p:cNvSpPr>
            <a:spLocks noGrp="1"/>
          </p:cNvSpPr>
          <p:nvPr>
            <p:ph type="body" idx="2"/>
          </p:nvPr>
        </p:nvSpPr>
        <p:spPr>
          <a:xfrm>
            <a:off x="839787" y="1395466"/>
            <a:ext cx="10515599" cy="4536998"/>
          </a:xfrm>
        </p:spPr>
        <p:txBody>
          <a:bodyPr>
            <a:noAutofit/>
          </a:bodyPr>
          <a:lstStyle/>
          <a:p>
            <a:pPr marL="342900" marR="75565" algn="just">
              <a:lnSpc>
                <a:spcPct val="150000"/>
              </a:lnSpc>
              <a:spcAft>
                <a:spcPts val="8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Unsupervised learning techniques like clustering and anomaly detection are also used to identify unusual patterns that may indicate fraudulent activity.</a:t>
            </a:r>
          </a:p>
          <a:p>
            <a:pPr marL="342900" marR="75565" algn="just">
              <a:lnSpc>
                <a:spcPct val="150000"/>
              </a:lnSpc>
              <a:spcAft>
                <a:spcPts val="8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Fraud detection systems are continuously updated to keep pace with the changing nature of fraud. The effectiveness of these systems is critical to maintain consumer trust in the financial system and prevent significant financial losses to both consumers and financial institutions. Overall, credit card fraud detection is an essential area of research that combines advanced data analysis techniques and machine learning algorithms to detect and prevent fraudulent activity. </a:t>
            </a:r>
          </a:p>
          <a:p>
            <a:pPr marL="342900" marR="75565" algn="just">
              <a:lnSpc>
                <a:spcPct val="150000"/>
              </a:lnSpc>
              <a:spcAft>
                <a:spcPts val="800"/>
              </a:spcAft>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6380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9FCE1-9A77-12F5-CE95-4FD09AFD1CDD}"/>
              </a:ext>
            </a:extLst>
          </p:cNvPr>
          <p:cNvSpPr>
            <a:spLocks noGrp="1"/>
          </p:cNvSpPr>
          <p:nvPr>
            <p:ph type="title"/>
          </p:nvPr>
        </p:nvSpPr>
        <p:spPr>
          <a:xfrm>
            <a:off x="722959" y="161006"/>
            <a:ext cx="10515600" cy="1325563"/>
          </a:xfrm>
        </p:spPr>
        <p:txBody>
          <a:bodyPr>
            <a:normAutofit/>
          </a:bodyPr>
          <a:lstStyle/>
          <a:p>
            <a:r>
              <a:rPr lang="en-IN" sz="4500" b="1" dirty="0">
                <a:latin typeface="Times New Roman" panose="02020603050405020304" pitchFamily="18" charset="0"/>
                <a:cs typeface="Times New Roman" panose="02020603050405020304" pitchFamily="18" charset="0"/>
              </a:rPr>
              <a:t>2. Problem Statement</a:t>
            </a:r>
            <a:endParaRPr lang="en-IN" sz="4500" b="1" dirty="0"/>
          </a:p>
        </p:txBody>
      </p:sp>
      <p:pic>
        <p:nvPicPr>
          <p:cNvPr id="3" name="Picture 2">
            <a:extLst>
              <a:ext uri="{FF2B5EF4-FFF2-40B4-BE49-F238E27FC236}">
                <a16:creationId xmlns:a16="http://schemas.microsoft.com/office/drawing/2014/main" id="{24A3FB24-0BE8-6763-BB6B-288D627B057E}"/>
              </a:ext>
            </a:extLst>
          </p:cNvPr>
          <p:cNvPicPr>
            <a:picLocks noChangeAspect="1"/>
          </p:cNvPicPr>
          <p:nvPr/>
        </p:nvPicPr>
        <p:blipFill rotWithShape="1">
          <a:blip r:embed="rId2"/>
          <a:srcRect l="10536" t="16197" r="7963" b="26713"/>
          <a:stretch/>
        </p:blipFill>
        <p:spPr>
          <a:xfrm>
            <a:off x="9113520" y="73353"/>
            <a:ext cx="2895600" cy="1158240"/>
          </a:xfrm>
          <a:prstGeom prst="rect">
            <a:avLst/>
          </a:prstGeom>
        </p:spPr>
      </p:pic>
      <p:pic>
        <p:nvPicPr>
          <p:cNvPr id="5" name="Picture 4">
            <a:extLst>
              <a:ext uri="{FF2B5EF4-FFF2-40B4-BE49-F238E27FC236}">
                <a16:creationId xmlns:a16="http://schemas.microsoft.com/office/drawing/2014/main" id="{D1742547-1501-DDAE-CD8D-E010DBE510F2}"/>
              </a:ext>
            </a:extLst>
          </p:cNvPr>
          <p:cNvPicPr>
            <a:picLocks noChangeAspect="1"/>
          </p:cNvPicPr>
          <p:nvPr/>
        </p:nvPicPr>
        <p:blipFill>
          <a:blip r:embed="rId3"/>
          <a:stretch>
            <a:fillRect/>
          </a:stretch>
        </p:blipFill>
        <p:spPr>
          <a:xfrm>
            <a:off x="8765222" y="6187440"/>
            <a:ext cx="3426778" cy="500713"/>
          </a:xfrm>
          <a:prstGeom prst="rect">
            <a:avLst/>
          </a:prstGeom>
        </p:spPr>
      </p:pic>
      <p:sp>
        <p:nvSpPr>
          <p:cNvPr id="8" name="Text Placeholder 7">
            <a:extLst>
              <a:ext uri="{FF2B5EF4-FFF2-40B4-BE49-F238E27FC236}">
                <a16:creationId xmlns:a16="http://schemas.microsoft.com/office/drawing/2014/main" id="{75418370-6B08-9202-E2FD-FD174AADC352}"/>
              </a:ext>
            </a:extLst>
          </p:cNvPr>
          <p:cNvSpPr>
            <a:spLocks noGrp="1"/>
          </p:cNvSpPr>
          <p:nvPr>
            <p:ph type="body" idx="2"/>
          </p:nvPr>
        </p:nvSpPr>
        <p:spPr>
          <a:xfrm>
            <a:off x="839787" y="1395466"/>
            <a:ext cx="10515599" cy="4536998"/>
          </a:xfrm>
        </p:spPr>
        <p:txBody>
          <a:bodyPr>
            <a:noAutofit/>
          </a:bodyPr>
          <a:lstStyle/>
          <a:p>
            <a:pPr marL="0" marR="75565" indent="0" algn="just">
              <a:lnSpc>
                <a:spcPct val="150000"/>
              </a:lnSpc>
              <a:spcAft>
                <a:spcPts val="800"/>
              </a:spcAft>
              <a:buNone/>
            </a:pPr>
            <a:r>
              <a:rPr lang="en-US" sz="2400" dirty="0">
                <a:effectLst/>
                <a:latin typeface="Times New Roman" panose="02020603050405020304" pitchFamily="18" charset="0"/>
                <a:ea typeface="Calibri" panose="020F0502020204030204" pitchFamily="34" charset="0"/>
              </a:rPr>
              <a:t>The problem of credit card fraud is a significant challenge for financial institutions and merchants worldwide. Fraudulent activities not only result in significant financial losses but also erode consumer trust in the financial system. Fraudsters use sophisticated techniques to exploit vulnerabilities in payment systems and steal credit card information, leading to unauthorized transactions and chargebacks. The challenge for financial institutions and merchants is to detect fraudulent transactions accurately while minimizing false positives.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4625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9FCE1-9A77-12F5-CE95-4FD09AFD1CDD}"/>
              </a:ext>
            </a:extLst>
          </p:cNvPr>
          <p:cNvSpPr>
            <a:spLocks noGrp="1"/>
          </p:cNvSpPr>
          <p:nvPr>
            <p:ph type="title"/>
          </p:nvPr>
        </p:nvSpPr>
        <p:spPr>
          <a:xfrm>
            <a:off x="722959" y="161006"/>
            <a:ext cx="10515600" cy="1325563"/>
          </a:xfrm>
        </p:spPr>
        <p:txBody>
          <a:bodyPr>
            <a:normAutofit/>
          </a:bodyPr>
          <a:lstStyle/>
          <a:p>
            <a:r>
              <a:rPr lang="en-IN" sz="4500" b="1" dirty="0">
                <a:latin typeface="Times New Roman" panose="02020603050405020304" pitchFamily="18" charset="0"/>
                <a:cs typeface="Times New Roman" panose="02020603050405020304" pitchFamily="18" charset="0"/>
              </a:rPr>
              <a:t>3. Background Study</a:t>
            </a:r>
            <a:endParaRPr lang="en-IN" sz="4500" b="1" dirty="0"/>
          </a:p>
        </p:txBody>
      </p:sp>
      <p:pic>
        <p:nvPicPr>
          <p:cNvPr id="3" name="Picture 2">
            <a:extLst>
              <a:ext uri="{FF2B5EF4-FFF2-40B4-BE49-F238E27FC236}">
                <a16:creationId xmlns:a16="http://schemas.microsoft.com/office/drawing/2014/main" id="{24A3FB24-0BE8-6763-BB6B-288D627B057E}"/>
              </a:ext>
            </a:extLst>
          </p:cNvPr>
          <p:cNvPicPr>
            <a:picLocks noChangeAspect="1"/>
          </p:cNvPicPr>
          <p:nvPr/>
        </p:nvPicPr>
        <p:blipFill rotWithShape="1">
          <a:blip r:embed="rId2"/>
          <a:srcRect l="10536" t="16197" r="7963" b="26713"/>
          <a:stretch/>
        </p:blipFill>
        <p:spPr>
          <a:xfrm>
            <a:off x="9113520" y="73353"/>
            <a:ext cx="2895600" cy="1158240"/>
          </a:xfrm>
          <a:prstGeom prst="rect">
            <a:avLst/>
          </a:prstGeom>
        </p:spPr>
      </p:pic>
      <p:pic>
        <p:nvPicPr>
          <p:cNvPr id="5" name="Picture 4">
            <a:extLst>
              <a:ext uri="{FF2B5EF4-FFF2-40B4-BE49-F238E27FC236}">
                <a16:creationId xmlns:a16="http://schemas.microsoft.com/office/drawing/2014/main" id="{D1742547-1501-DDAE-CD8D-E010DBE510F2}"/>
              </a:ext>
            </a:extLst>
          </p:cNvPr>
          <p:cNvPicPr>
            <a:picLocks noChangeAspect="1"/>
          </p:cNvPicPr>
          <p:nvPr/>
        </p:nvPicPr>
        <p:blipFill>
          <a:blip r:embed="rId3"/>
          <a:stretch>
            <a:fillRect/>
          </a:stretch>
        </p:blipFill>
        <p:spPr>
          <a:xfrm>
            <a:off x="8765222" y="6187440"/>
            <a:ext cx="3426778" cy="500713"/>
          </a:xfrm>
          <a:prstGeom prst="rect">
            <a:avLst/>
          </a:prstGeom>
        </p:spPr>
      </p:pic>
      <p:sp>
        <p:nvSpPr>
          <p:cNvPr id="8" name="Text Placeholder 7">
            <a:extLst>
              <a:ext uri="{FF2B5EF4-FFF2-40B4-BE49-F238E27FC236}">
                <a16:creationId xmlns:a16="http://schemas.microsoft.com/office/drawing/2014/main" id="{75418370-6B08-9202-E2FD-FD174AADC352}"/>
              </a:ext>
            </a:extLst>
          </p:cNvPr>
          <p:cNvSpPr>
            <a:spLocks noGrp="1"/>
          </p:cNvSpPr>
          <p:nvPr>
            <p:ph type="body" idx="2"/>
          </p:nvPr>
        </p:nvSpPr>
        <p:spPr>
          <a:xfrm>
            <a:off x="839787" y="1395466"/>
            <a:ext cx="10515599" cy="5046950"/>
          </a:xfrm>
        </p:spPr>
        <p:txBody>
          <a:bodyPr>
            <a:noAutofit/>
          </a:bodyPr>
          <a:lstStyle/>
          <a:p>
            <a:pPr marL="342900" marR="75565" algn="just">
              <a:lnSpc>
                <a:spcPct val="150000"/>
              </a:lnSpc>
              <a:spcAft>
                <a:spcPts val="800"/>
              </a:spcAft>
            </a:pPr>
            <a:r>
              <a:rPr lang="en-IN" sz="2200" dirty="0">
                <a:latin typeface="Times New Roman" panose="02020603050405020304" pitchFamily="18" charset="0"/>
                <a:cs typeface="Times New Roman" panose="02020603050405020304" pitchFamily="18" charset="0"/>
              </a:rPr>
              <a:t>Outliers:- </a:t>
            </a:r>
            <a:r>
              <a:rPr lang="en-US" sz="2200" dirty="0">
                <a:latin typeface="Times New Roman" panose="02020603050405020304" pitchFamily="18" charset="0"/>
                <a:cs typeface="Times New Roman" panose="02020603050405020304" pitchFamily="18" charset="0"/>
              </a:rPr>
              <a:t>Outlier is an extremely high or extremely low data point relative to the nearest data point and the rest of the neighboring co-existing values in a data graph or dataset you're working with</a:t>
            </a:r>
          </a:p>
          <a:p>
            <a:pPr marL="342900" marR="75565" algn="just">
              <a:lnSpc>
                <a:spcPct val="150000"/>
              </a:lnSpc>
              <a:spcAft>
                <a:spcPts val="800"/>
              </a:spcAft>
            </a:pPr>
            <a:r>
              <a:rPr lang="en-US" sz="2200" dirty="0">
                <a:latin typeface="Times New Roman" panose="02020603050405020304" pitchFamily="18" charset="0"/>
                <a:cs typeface="Times New Roman" panose="02020603050405020304" pitchFamily="18" charset="0"/>
              </a:rPr>
              <a:t>Correlation:- Correlation quantifies the strength of the linear relationship between a pair of variables, whereas regression expresses the relationship in the form of an equation. Correlation() method in Python is used to return Pearson's correlation coefficient between two inputs. The Pearson's correlation formula is: Where: r = The correlation coefficient. It is usually between -1 (negative correlation) and +1 (positive correlation).</a:t>
            </a:r>
          </a:p>
        </p:txBody>
      </p:sp>
    </p:spTree>
    <p:extLst>
      <p:ext uri="{BB962C8B-B14F-4D97-AF65-F5344CB8AC3E}">
        <p14:creationId xmlns:p14="http://schemas.microsoft.com/office/powerpoint/2010/main" val="394054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9FCE1-9A77-12F5-CE95-4FD09AFD1CDD}"/>
              </a:ext>
            </a:extLst>
          </p:cNvPr>
          <p:cNvSpPr>
            <a:spLocks noGrp="1"/>
          </p:cNvSpPr>
          <p:nvPr>
            <p:ph type="title"/>
          </p:nvPr>
        </p:nvSpPr>
        <p:spPr>
          <a:xfrm>
            <a:off x="722959" y="161006"/>
            <a:ext cx="10515600" cy="1325563"/>
          </a:xfrm>
        </p:spPr>
        <p:txBody>
          <a:bodyPr>
            <a:normAutofit/>
          </a:bodyPr>
          <a:lstStyle/>
          <a:p>
            <a:r>
              <a:rPr lang="en-IN" sz="4500" b="1" dirty="0">
                <a:latin typeface="Times New Roman" panose="02020603050405020304" pitchFamily="18" charset="0"/>
                <a:cs typeface="Times New Roman" panose="02020603050405020304" pitchFamily="18" charset="0"/>
              </a:rPr>
              <a:t>3. Background Study</a:t>
            </a:r>
            <a:endParaRPr lang="en-IN" sz="4500" b="1" dirty="0"/>
          </a:p>
        </p:txBody>
      </p:sp>
      <p:pic>
        <p:nvPicPr>
          <p:cNvPr id="3" name="Picture 2">
            <a:extLst>
              <a:ext uri="{FF2B5EF4-FFF2-40B4-BE49-F238E27FC236}">
                <a16:creationId xmlns:a16="http://schemas.microsoft.com/office/drawing/2014/main" id="{24A3FB24-0BE8-6763-BB6B-288D627B057E}"/>
              </a:ext>
            </a:extLst>
          </p:cNvPr>
          <p:cNvPicPr>
            <a:picLocks noChangeAspect="1"/>
          </p:cNvPicPr>
          <p:nvPr/>
        </p:nvPicPr>
        <p:blipFill rotWithShape="1">
          <a:blip r:embed="rId2"/>
          <a:srcRect l="10536" t="16197" r="7963" b="26713"/>
          <a:stretch/>
        </p:blipFill>
        <p:spPr>
          <a:xfrm>
            <a:off x="9113520" y="73353"/>
            <a:ext cx="2895600" cy="1158240"/>
          </a:xfrm>
          <a:prstGeom prst="rect">
            <a:avLst/>
          </a:prstGeom>
        </p:spPr>
      </p:pic>
      <p:pic>
        <p:nvPicPr>
          <p:cNvPr id="5" name="Picture 4">
            <a:extLst>
              <a:ext uri="{FF2B5EF4-FFF2-40B4-BE49-F238E27FC236}">
                <a16:creationId xmlns:a16="http://schemas.microsoft.com/office/drawing/2014/main" id="{D1742547-1501-DDAE-CD8D-E010DBE510F2}"/>
              </a:ext>
            </a:extLst>
          </p:cNvPr>
          <p:cNvPicPr>
            <a:picLocks noChangeAspect="1"/>
          </p:cNvPicPr>
          <p:nvPr/>
        </p:nvPicPr>
        <p:blipFill>
          <a:blip r:embed="rId3"/>
          <a:stretch>
            <a:fillRect/>
          </a:stretch>
        </p:blipFill>
        <p:spPr>
          <a:xfrm>
            <a:off x="8765222" y="6187440"/>
            <a:ext cx="3426778" cy="500713"/>
          </a:xfrm>
          <a:prstGeom prst="rect">
            <a:avLst/>
          </a:prstGeom>
        </p:spPr>
      </p:pic>
      <p:sp>
        <p:nvSpPr>
          <p:cNvPr id="8" name="Text Placeholder 7">
            <a:extLst>
              <a:ext uri="{FF2B5EF4-FFF2-40B4-BE49-F238E27FC236}">
                <a16:creationId xmlns:a16="http://schemas.microsoft.com/office/drawing/2014/main" id="{75418370-6B08-9202-E2FD-FD174AADC352}"/>
              </a:ext>
            </a:extLst>
          </p:cNvPr>
          <p:cNvSpPr>
            <a:spLocks noGrp="1"/>
          </p:cNvSpPr>
          <p:nvPr>
            <p:ph type="body" idx="2"/>
          </p:nvPr>
        </p:nvSpPr>
        <p:spPr>
          <a:xfrm>
            <a:off x="839787" y="1395466"/>
            <a:ext cx="10515599" cy="5046950"/>
          </a:xfrm>
        </p:spPr>
        <p:txBody>
          <a:bodyPr>
            <a:noAutofit/>
          </a:bodyPr>
          <a:lstStyle/>
          <a:p>
            <a:pPr marL="342900" marR="75565" algn="just">
              <a:lnSpc>
                <a:spcPct val="150000"/>
              </a:lnSpc>
              <a:spcAft>
                <a:spcPts val="800"/>
              </a:spcAft>
            </a:pPr>
            <a:r>
              <a:rPr lang="en-US" sz="2400" dirty="0">
                <a:latin typeface="Times New Roman" panose="02020603050405020304" pitchFamily="18" charset="0"/>
                <a:cs typeface="Times New Roman" panose="02020603050405020304" pitchFamily="18" charset="0"/>
              </a:rPr>
              <a:t>Isolation Forest:- A low linear time complexity and a small memory requirement. It builds a good performing model with a small number of trees using small sub-samples of fixed size, regardless of the size of a data set. The Isolation Forest algorithm isolates observations by randomly selecting a feature and then randomly selecting a split value between the maximum and minimum values of the selected feature</a:t>
            </a:r>
          </a:p>
          <a:p>
            <a:pPr marL="342900" marR="75565" algn="just">
              <a:lnSpc>
                <a:spcPct val="150000"/>
              </a:lnSpc>
              <a:spcAft>
                <a:spcPts val="800"/>
              </a:spcAft>
            </a:pPr>
            <a:r>
              <a:rPr lang="en-US" sz="2400" dirty="0">
                <a:latin typeface="Times New Roman" panose="02020603050405020304" pitchFamily="18" charset="0"/>
                <a:cs typeface="Times New Roman" panose="02020603050405020304" pitchFamily="18" charset="0"/>
              </a:rPr>
              <a:t>Local outlier factor(LOF):- It computes the local density deviation of a given data point with respect to its neighbors.</a:t>
            </a:r>
          </a:p>
          <a:p>
            <a:pPr marL="342900" marR="75565" algn="just">
              <a:lnSpc>
                <a:spcPct val="150000"/>
              </a:lnSpc>
              <a:spcAft>
                <a:spcPts val="800"/>
              </a:spcAft>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4781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9FCE1-9A77-12F5-CE95-4FD09AFD1CDD}"/>
              </a:ext>
            </a:extLst>
          </p:cNvPr>
          <p:cNvSpPr>
            <a:spLocks noGrp="1"/>
          </p:cNvSpPr>
          <p:nvPr>
            <p:ph type="title"/>
          </p:nvPr>
        </p:nvSpPr>
        <p:spPr>
          <a:xfrm>
            <a:off x="722959" y="161006"/>
            <a:ext cx="10515600" cy="1325563"/>
          </a:xfrm>
        </p:spPr>
        <p:txBody>
          <a:bodyPr>
            <a:normAutofit/>
          </a:bodyPr>
          <a:lstStyle/>
          <a:p>
            <a:r>
              <a:rPr lang="en-IN" sz="4500" b="1" dirty="0">
                <a:latin typeface="Times New Roman" panose="02020603050405020304" pitchFamily="18" charset="0"/>
                <a:cs typeface="Times New Roman" panose="02020603050405020304" pitchFamily="18" charset="0"/>
              </a:rPr>
              <a:t>4. Project Progress </a:t>
            </a:r>
            <a:endParaRPr lang="en-IN" sz="4500" b="1" dirty="0"/>
          </a:p>
        </p:txBody>
      </p:sp>
      <p:pic>
        <p:nvPicPr>
          <p:cNvPr id="3" name="Picture 2">
            <a:extLst>
              <a:ext uri="{FF2B5EF4-FFF2-40B4-BE49-F238E27FC236}">
                <a16:creationId xmlns:a16="http://schemas.microsoft.com/office/drawing/2014/main" id="{24A3FB24-0BE8-6763-BB6B-288D627B057E}"/>
              </a:ext>
            </a:extLst>
          </p:cNvPr>
          <p:cNvPicPr>
            <a:picLocks noChangeAspect="1"/>
          </p:cNvPicPr>
          <p:nvPr/>
        </p:nvPicPr>
        <p:blipFill rotWithShape="1">
          <a:blip r:embed="rId2"/>
          <a:srcRect l="10536" t="16197" r="7963" b="26713"/>
          <a:stretch/>
        </p:blipFill>
        <p:spPr>
          <a:xfrm>
            <a:off x="9113520" y="73353"/>
            <a:ext cx="2895600" cy="1158240"/>
          </a:xfrm>
          <a:prstGeom prst="rect">
            <a:avLst/>
          </a:prstGeom>
        </p:spPr>
      </p:pic>
      <p:pic>
        <p:nvPicPr>
          <p:cNvPr id="5" name="Picture 4">
            <a:extLst>
              <a:ext uri="{FF2B5EF4-FFF2-40B4-BE49-F238E27FC236}">
                <a16:creationId xmlns:a16="http://schemas.microsoft.com/office/drawing/2014/main" id="{D1742547-1501-DDAE-CD8D-E010DBE510F2}"/>
              </a:ext>
            </a:extLst>
          </p:cNvPr>
          <p:cNvPicPr>
            <a:picLocks noChangeAspect="1"/>
          </p:cNvPicPr>
          <p:nvPr/>
        </p:nvPicPr>
        <p:blipFill>
          <a:blip r:embed="rId3"/>
          <a:stretch>
            <a:fillRect/>
          </a:stretch>
        </p:blipFill>
        <p:spPr>
          <a:xfrm>
            <a:off x="8765222" y="6187440"/>
            <a:ext cx="3426778" cy="500713"/>
          </a:xfrm>
          <a:prstGeom prst="rect">
            <a:avLst/>
          </a:prstGeom>
        </p:spPr>
      </p:pic>
      <p:sp>
        <p:nvSpPr>
          <p:cNvPr id="8" name="Text Placeholder 7">
            <a:extLst>
              <a:ext uri="{FF2B5EF4-FFF2-40B4-BE49-F238E27FC236}">
                <a16:creationId xmlns:a16="http://schemas.microsoft.com/office/drawing/2014/main" id="{75418370-6B08-9202-E2FD-FD174AADC352}"/>
              </a:ext>
            </a:extLst>
          </p:cNvPr>
          <p:cNvSpPr>
            <a:spLocks noGrp="1"/>
          </p:cNvSpPr>
          <p:nvPr>
            <p:ph type="body" idx="2"/>
          </p:nvPr>
        </p:nvSpPr>
        <p:spPr>
          <a:xfrm>
            <a:off x="839787" y="1395466"/>
            <a:ext cx="10515599" cy="5046950"/>
          </a:xfrm>
        </p:spPr>
        <p:txBody>
          <a:bodyPr>
            <a:noAutofit/>
          </a:bodyPr>
          <a:lstStyle/>
          <a:p>
            <a:pPr marL="342900" marR="75565" algn="just">
              <a:lnSpc>
                <a:spcPct val="150000"/>
              </a:lnSpc>
              <a:spcAft>
                <a:spcPts val="800"/>
              </a:spcAft>
            </a:pPr>
            <a:r>
              <a:rPr lang="en-US" sz="2400" dirty="0"/>
              <a:t>As a team, we have made significant strides in its development, and I have attached pictures to showcase the various stages of our progress. Specifically, we have accomplished the following milestones:</a:t>
            </a:r>
          </a:p>
          <a:p>
            <a:pPr marL="342900" marR="75565" algn="just">
              <a:lnSpc>
                <a:spcPct val="150000"/>
              </a:lnSpc>
              <a:spcAft>
                <a:spcPts val="800"/>
              </a:spcAft>
            </a:pPr>
            <a:r>
              <a:rPr lang="en-US" sz="2400" dirty="0"/>
              <a:t>Transaction class distribution graph </a:t>
            </a:r>
          </a:p>
          <a:p>
            <a:pPr marL="342900" marR="75565" algn="just">
              <a:lnSpc>
                <a:spcPct val="150000"/>
              </a:lnSpc>
              <a:spcAft>
                <a:spcPts val="800"/>
              </a:spcAft>
            </a:pPr>
            <a:r>
              <a:rPr lang="en-US" sz="2400" dirty="0"/>
              <a:t>Histograms of transaction amounts for fraud and normal transactions separately</a:t>
            </a:r>
          </a:p>
          <a:p>
            <a:pPr marL="342900" marR="75565" algn="just">
              <a:lnSpc>
                <a:spcPct val="150000"/>
              </a:lnSpc>
              <a:spcAft>
                <a:spcPts val="800"/>
              </a:spcAft>
            </a:pPr>
            <a:r>
              <a:rPr lang="en-US" sz="2400" dirty="0"/>
              <a:t> Scatter plots of transaction amounts against the time of transactions for fraud and normal transactions separately</a:t>
            </a:r>
          </a:p>
        </p:txBody>
      </p:sp>
    </p:spTree>
    <p:extLst>
      <p:ext uri="{BB962C8B-B14F-4D97-AF65-F5344CB8AC3E}">
        <p14:creationId xmlns:p14="http://schemas.microsoft.com/office/powerpoint/2010/main" val="949449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9FCE1-9A77-12F5-CE95-4FD09AFD1CDD}"/>
              </a:ext>
            </a:extLst>
          </p:cNvPr>
          <p:cNvSpPr>
            <a:spLocks noGrp="1"/>
          </p:cNvSpPr>
          <p:nvPr>
            <p:ph type="title"/>
          </p:nvPr>
        </p:nvSpPr>
        <p:spPr>
          <a:xfrm>
            <a:off x="722959" y="161006"/>
            <a:ext cx="10515600" cy="1325563"/>
          </a:xfrm>
        </p:spPr>
        <p:txBody>
          <a:bodyPr>
            <a:normAutofit/>
          </a:bodyPr>
          <a:lstStyle/>
          <a:p>
            <a:r>
              <a:rPr lang="en-IN" sz="4500" b="1" dirty="0">
                <a:latin typeface="Times New Roman" panose="02020603050405020304" pitchFamily="18" charset="0"/>
                <a:cs typeface="Times New Roman" panose="02020603050405020304" pitchFamily="18" charset="0"/>
              </a:rPr>
              <a:t>4. Project Progress </a:t>
            </a:r>
            <a:endParaRPr lang="en-IN" sz="4500" b="1" dirty="0"/>
          </a:p>
        </p:txBody>
      </p:sp>
      <p:pic>
        <p:nvPicPr>
          <p:cNvPr id="3" name="Picture 2">
            <a:extLst>
              <a:ext uri="{FF2B5EF4-FFF2-40B4-BE49-F238E27FC236}">
                <a16:creationId xmlns:a16="http://schemas.microsoft.com/office/drawing/2014/main" id="{24A3FB24-0BE8-6763-BB6B-288D627B057E}"/>
              </a:ext>
            </a:extLst>
          </p:cNvPr>
          <p:cNvPicPr>
            <a:picLocks noChangeAspect="1"/>
          </p:cNvPicPr>
          <p:nvPr/>
        </p:nvPicPr>
        <p:blipFill rotWithShape="1">
          <a:blip r:embed="rId2"/>
          <a:srcRect l="10536" t="16197" r="7963" b="26713"/>
          <a:stretch/>
        </p:blipFill>
        <p:spPr>
          <a:xfrm>
            <a:off x="9113520" y="73353"/>
            <a:ext cx="2895600" cy="1158240"/>
          </a:xfrm>
          <a:prstGeom prst="rect">
            <a:avLst/>
          </a:prstGeom>
        </p:spPr>
      </p:pic>
      <p:pic>
        <p:nvPicPr>
          <p:cNvPr id="5" name="Picture 4">
            <a:extLst>
              <a:ext uri="{FF2B5EF4-FFF2-40B4-BE49-F238E27FC236}">
                <a16:creationId xmlns:a16="http://schemas.microsoft.com/office/drawing/2014/main" id="{D1742547-1501-DDAE-CD8D-E010DBE510F2}"/>
              </a:ext>
            </a:extLst>
          </p:cNvPr>
          <p:cNvPicPr>
            <a:picLocks noChangeAspect="1"/>
          </p:cNvPicPr>
          <p:nvPr/>
        </p:nvPicPr>
        <p:blipFill>
          <a:blip r:embed="rId3"/>
          <a:stretch>
            <a:fillRect/>
          </a:stretch>
        </p:blipFill>
        <p:spPr>
          <a:xfrm>
            <a:off x="8765222" y="6187440"/>
            <a:ext cx="3426778" cy="500713"/>
          </a:xfrm>
          <a:prstGeom prst="rect">
            <a:avLst/>
          </a:prstGeom>
        </p:spPr>
      </p:pic>
      <p:pic>
        <p:nvPicPr>
          <p:cNvPr id="6" name="Picture 5">
            <a:extLst>
              <a:ext uri="{FF2B5EF4-FFF2-40B4-BE49-F238E27FC236}">
                <a16:creationId xmlns:a16="http://schemas.microsoft.com/office/drawing/2014/main" id="{9C81C4C6-FACA-E693-A10B-BCBCBA0D7434}"/>
              </a:ext>
            </a:extLst>
          </p:cNvPr>
          <p:cNvPicPr>
            <a:picLocks noChangeAspect="1"/>
          </p:cNvPicPr>
          <p:nvPr/>
        </p:nvPicPr>
        <p:blipFill>
          <a:blip r:embed="rId4"/>
          <a:stretch>
            <a:fillRect/>
          </a:stretch>
        </p:blipFill>
        <p:spPr>
          <a:xfrm>
            <a:off x="1" y="1119783"/>
            <a:ext cx="12009120" cy="5577211"/>
          </a:xfrm>
          <a:prstGeom prst="rect">
            <a:avLst/>
          </a:prstGeom>
        </p:spPr>
      </p:pic>
    </p:spTree>
    <p:extLst>
      <p:ext uri="{BB962C8B-B14F-4D97-AF65-F5344CB8AC3E}">
        <p14:creationId xmlns:p14="http://schemas.microsoft.com/office/powerpoint/2010/main" val="823116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9FCE1-9A77-12F5-CE95-4FD09AFD1CDD}"/>
              </a:ext>
            </a:extLst>
          </p:cNvPr>
          <p:cNvSpPr>
            <a:spLocks noGrp="1"/>
          </p:cNvSpPr>
          <p:nvPr>
            <p:ph type="title"/>
          </p:nvPr>
        </p:nvSpPr>
        <p:spPr>
          <a:xfrm>
            <a:off x="722959" y="161006"/>
            <a:ext cx="10515600" cy="1325563"/>
          </a:xfrm>
        </p:spPr>
        <p:txBody>
          <a:bodyPr>
            <a:normAutofit/>
          </a:bodyPr>
          <a:lstStyle/>
          <a:p>
            <a:r>
              <a:rPr lang="en-IN" sz="4500" b="1" dirty="0">
                <a:latin typeface="Times New Roman" panose="02020603050405020304" pitchFamily="18" charset="0"/>
                <a:cs typeface="Times New Roman" panose="02020603050405020304" pitchFamily="18" charset="0"/>
              </a:rPr>
              <a:t>4. Project Progress </a:t>
            </a:r>
            <a:endParaRPr lang="en-IN" sz="4500" b="1" dirty="0"/>
          </a:p>
        </p:txBody>
      </p:sp>
      <p:pic>
        <p:nvPicPr>
          <p:cNvPr id="3" name="Picture 2">
            <a:extLst>
              <a:ext uri="{FF2B5EF4-FFF2-40B4-BE49-F238E27FC236}">
                <a16:creationId xmlns:a16="http://schemas.microsoft.com/office/drawing/2014/main" id="{24A3FB24-0BE8-6763-BB6B-288D627B057E}"/>
              </a:ext>
            </a:extLst>
          </p:cNvPr>
          <p:cNvPicPr>
            <a:picLocks noChangeAspect="1"/>
          </p:cNvPicPr>
          <p:nvPr/>
        </p:nvPicPr>
        <p:blipFill rotWithShape="1">
          <a:blip r:embed="rId2"/>
          <a:srcRect l="10536" t="16197" r="7963" b="26713"/>
          <a:stretch/>
        </p:blipFill>
        <p:spPr>
          <a:xfrm>
            <a:off x="9113520" y="73353"/>
            <a:ext cx="2895600" cy="1158240"/>
          </a:xfrm>
          <a:prstGeom prst="rect">
            <a:avLst/>
          </a:prstGeom>
        </p:spPr>
      </p:pic>
      <p:pic>
        <p:nvPicPr>
          <p:cNvPr id="5" name="Picture 4">
            <a:extLst>
              <a:ext uri="{FF2B5EF4-FFF2-40B4-BE49-F238E27FC236}">
                <a16:creationId xmlns:a16="http://schemas.microsoft.com/office/drawing/2014/main" id="{D1742547-1501-DDAE-CD8D-E010DBE510F2}"/>
              </a:ext>
            </a:extLst>
          </p:cNvPr>
          <p:cNvPicPr>
            <a:picLocks noChangeAspect="1"/>
          </p:cNvPicPr>
          <p:nvPr/>
        </p:nvPicPr>
        <p:blipFill>
          <a:blip r:embed="rId3"/>
          <a:stretch>
            <a:fillRect/>
          </a:stretch>
        </p:blipFill>
        <p:spPr>
          <a:xfrm>
            <a:off x="8765222" y="6187440"/>
            <a:ext cx="3426778" cy="500713"/>
          </a:xfrm>
          <a:prstGeom prst="rect">
            <a:avLst/>
          </a:prstGeom>
        </p:spPr>
      </p:pic>
      <p:pic>
        <p:nvPicPr>
          <p:cNvPr id="6" name="Picture 5">
            <a:extLst>
              <a:ext uri="{FF2B5EF4-FFF2-40B4-BE49-F238E27FC236}">
                <a16:creationId xmlns:a16="http://schemas.microsoft.com/office/drawing/2014/main" id="{EEF36404-4EE6-43A5-1FBD-B4ADC282198C}"/>
              </a:ext>
            </a:extLst>
          </p:cNvPr>
          <p:cNvPicPr>
            <a:picLocks noChangeAspect="1"/>
          </p:cNvPicPr>
          <p:nvPr/>
        </p:nvPicPr>
        <p:blipFill>
          <a:blip r:embed="rId4"/>
          <a:stretch>
            <a:fillRect/>
          </a:stretch>
        </p:blipFill>
        <p:spPr>
          <a:xfrm>
            <a:off x="5486399" y="1231593"/>
            <a:ext cx="6705601" cy="5456560"/>
          </a:xfrm>
          <a:prstGeom prst="rect">
            <a:avLst/>
          </a:prstGeom>
        </p:spPr>
      </p:pic>
      <p:pic>
        <p:nvPicPr>
          <p:cNvPr id="9" name="Picture 8">
            <a:extLst>
              <a:ext uri="{FF2B5EF4-FFF2-40B4-BE49-F238E27FC236}">
                <a16:creationId xmlns:a16="http://schemas.microsoft.com/office/drawing/2014/main" id="{720B9D46-178D-81B6-B981-2BC7EFA55322}"/>
              </a:ext>
            </a:extLst>
          </p:cNvPr>
          <p:cNvPicPr>
            <a:picLocks noChangeAspect="1"/>
          </p:cNvPicPr>
          <p:nvPr/>
        </p:nvPicPr>
        <p:blipFill>
          <a:blip r:embed="rId5"/>
          <a:stretch>
            <a:fillRect/>
          </a:stretch>
        </p:blipFill>
        <p:spPr>
          <a:xfrm>
            <a:off x="0" y="1320646"/>
            <a:ext cx="5095875" cy="5278453"/>
          </a:xfrm>
          <a:prstGeom prst="rect">
            <a:avLst/>
          </a:prstGeom>
        </p:spPr>
      </p:pic>
    </p:spTree>
    <p:extLst>
      <p:ext uri="{BB962C8B-B14F-4D97-AF65-F5344CB8AC3E}">
        <p14:creationId xmlns:p14="http://schemas.microsoft.com/office/powerpoint/2010/main" val="1301672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9FCE1-9A77-12F5-CE95-4FD09AFD1CDD}"/>
              </a:ext>
            </a:extLst>
          </p:cNvPr>
          <p:cNvSpPr>
            <a:spLocks noGrp="1"/>
          </p:cNvSpPr>
          <p:nvPr>
            <p:ph type="title"/>
          </p:nvPr>
        </p:nvSpPr>
        <p:spPr>
          <a:xfrm>
            <a:off x="722959" y="161006"/>
            <a:ext cx="10515600" cy="1325563"/>
          </a:xfrm>
        </p:spPr>
        <p:txBody>
          <a:bodyPr>
            <a:normAutofit/>
          </a:bodyPr>
          <a:lstStyle/>
          <a:p>
            <a:r>
              <a:rPr lang="en-IN" sz="4500" b="1" dirty="0">
                <a:latin typeface="Times New Roman" panose="02020603050405020304" pitchFamily="18" charset="0"/>
                <a:cs typeface="Times New Roman" panose="02020603050405020304" pitchFamily="18" charset="0"/>
              </a:rPr>
              <a:t>4. Project Progress </a:t>
            </a:r>
            <a:endParaRPr lang="en-IN" sz="4500" b="1" dirty="0"/>
          </a:p>
        </p:txBody>
      </p:sp>
      <p:pic>
        <p:nvPicPr>
          <p:cNvPr id="3" name="Picture 2">
            <a:extLst>
              <a:ext uri="{FF2B5EF4-FFF2-40B4-BE49-F238E27FC236}">
                <a16:creationId xmlns:a16="http://schemas.microsoft.com/office/drawing/2014/main" id="{24A3FB24-0BE8-6763-BB6B-288D627B057E}"/>
              </a:ext>
            </a:extLst>
          </p:cNvPr>
          <p:cNvPicPr>
            <a:picLocks noChangeAspect="1"/>
          </p:cNvPicPr>
          <p:nvPr/>
        </p:nvPicPr>
        <p:blipFill rotWithShape="1">
          <a:blip r:embed="rId2"/>
          <a:srcRect l="10536" t="16197" r="7963" b="26713"/>
          <a:stretch/>
        </p:blipFill>
        <p:spPr>
          <a:xfrm>
            <a:off x="9113520" y="73353"/>
            <a:ext cx="2895600" cy="1158240"/>
          </a:xfrm>
          <a:prstGeom prst="rect">
            <a:avLst/>
          </a:prstGeom>
        </p:spPr>
      </p:pic>
      <p:pic>
        <p:nvPicPr>
          <p:cNvPr id="5" name="Picture 4">
            <a:extLst>
              <a:ext uri="{FF2B5EF4-FFF2-40B4-BE49-F238E27FC236}">
                <a16:creationId xmlns:a16="http://schemas.microsoft.com/office/drawing/2014/main" id="{D1742547-1501-DDAE-CD8D-E010DBE510F2}"/>
              </a:ext>
            </a:extLst>
          </p:cNvPr>
          <p:cNvPicPr>
            <a:picLocks noChangeAspect="1"/>
          </p:cNvPicPr>
          <p:nvPr/>
        </p:nvPicPr>
        <p:blipFill>
          <a:blip r:embed="rId3"/>
          <a:stretch>
            <a:fillRect/>
          </a:stretch>
        </p:blipFill>
        <p:spPr>
          <a:xfrm>
            <a:off x="8765222" y="6187440"/>
            <a:ext cx="3426778" cy="500713"/>
          </a:xfrm>
          <a:prstGeom prst="rect">
            <a:avLst/>
          </a:prstGeom>
        </p:spPr>
      </p:pic>
      <p:pic>
        <p:nvPicPr>
          <p:cNvPr id="6" name="Picture 5">
            <a:extLst>
              <a:ext uri="{FF2B5EF4-FFF2-40B4-BE49-F238E27FC236}">
                <a16:creationId xmlns:a16="http://schemas.microsoft.com/office/drawing/2014/main" id="{794AE0F3-A276-5CF7-5FCE-22FB0B90ABEE}"/>
              </a:ext>
            </a:extLst>
          </p:cNvPr>
          <p:cNvPicPr>
            <a:picLocks noChangeAspect="1"/>
          </p:cNvPicPr>
          <p:nvPr/>
        </p:nvPicPr>
        <p:blipFill>
          <a:blip r:embed="rId4"/>
          <a:stretch>
            <a:fillRect/>
          </a:stretch>
        </p:blipFill>
        <p:spPr>
          <a:xfrm>
            <a:off x="20956" y="1231593"/>
            <a:ext cx="5537200" cy="5610225"/>
          </a:xfrm>
          <a:prstGeom prst="rect">
            <a:avLst/>
          </a:prstGeom>
        </p:spPr>
      </p:pic>
      <p:pic>
        <p:nvPicPr>
          <p:cNvPr id="9" name="Picture 8">
            <a:extLst>
              <a:ext uri="{FF2B5EF4-FFF2-40B4-BE49-F238E27FC236}">
                <a16:creationId xmlns:a16="http://schemas.microsoft.com/office/drawing/2014/main" id="{69A19F73-3237-16E0-55DB-1BFD98CB504A}"/>
              </a:ext>
            </a:extLst>
          </p:cNvPr>
          <p:cNvPicPr>
            <a:picLocks noChangeAspect="1"/>
          </p:cNvPicPr>
          <p:nvPr/>
        </p:nvPicPr>
        <p:blipFill>
          <a:blip r:embed="rId5"/>
          <a:stretch>
            <a:fillRect/>
          </a:stretch>
        </p:blipFill>
        <p:spPr>
          <a:xfrm>
            <a:off x="5980759" y="1231593"/>
            <a:ext cx="6028361" cy="5553054"/>
          </a:xfrm>
          <a:prstGeom prst="rect">
            <a:avLst/>
          </a:prstGeom>
        </p:spPr>
      </p:pic>
    </p:spTree>
    <p:extLst>
      <p:ext uri="{BB962C8B-B14F-4D97-AF65-F5344CB8AC3E}">
        <p14:creationId xmlns:p14="http://schemas.microsoft.com/office/powerpoint/2010/main" val="1545948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9FCE1-9A77-12F5-CE95-4FD09AFD1CDD}"/>
              </a:ext>
            </a:extLst>
          </p:cNvPr>
          <p:cNvSpPr>
            <a:spLocks noGrp="1"/>
          </p:cNvSpPr>
          <p:nvPr>
            <p:ph type="title"/>
          </p:nvPr>
        </p:nvSpPr>
        <p:spPr>
          <a:xfrm>
            <a:off x="722959" y="161006"/>
            <a:ext cx="10515600" cy="1325563"/>
          </a:xfrm>
        </p:spPr>
        <p:txBody>
          <a:bodyPr>
            <a:normAutofit/>
          </a:bodyPr>
          <a:lstStyle/>
          <a:p>
            <a:r>
              <a:rPr lang="en-IN" sz="4500" b="1" dirty="0">
                <a:latin typeface="Times New Roman" panose="02020603050405020304" pitchFamily="18" charset="0"/>
                <a:cs typeface="Times New Roman" panose="02020603050405020304" pitchFamily="18" charset="0"/>
              </a:rPr>
              <a:t>4. Project Progress </a:t>
            </a:r>
            <a:endParaRPr lang="en-IN" sz="4500" b="1" dirty="0"/>
          </a:p>
        </p:txBody>
      </p:sp>
      <p:pic>
        <p:nvPicPr>
          <p:cNvPr id="3" name="Picture 2">
            <a:extLst>
              <a:ext uri="{FF2B5EF4-FFF2-40B4-BE49-F238E27FC236}">
                <a16:creationId xmlns:a16="http://schemas.microsoft.com/office/drawing/2014/main" id="{24A3FB24-0BE8-6763-BB6B-288D627B057E}"/>
              </a:ext>
            </a:extLst>
          </p:cNvPr>
          <p:cNvPicPr>
            <a:picLocks noChangeAspect="1"/>
          </p:cNvPicPr>
          <p:nvPr/>
        </p:nvPicPr>
        <p:blipFill rotWithShape="1">
          <a:blip r:embed="rId2"/>
          <a:srcRect l="10536" t="16197" r="7963" b="26713"/>
          <a:stretch/>
        </p:blipFill>
        <p:spPr>
          <a:xfrm>
            <a:off x="9113520" y="73353"/>
            <a:ext cx="2895600" cy="1158240"/>
          </a:xfrm>
          <a:prstGeom prst="rect">
            <a:avLst/>
          </a:prstGeom>
        </p:spPr>
      </p:pic>
      <p:pic>
        <p:nvPicPr>
          <p:cNvPr id="5" name="Picture 4">
            <a:extLst>
              <a:ext uri="{FF2B5EF4-FFF2-40B4-BE49-F238E27FC236}">
                <a16:creationId xmlns:a16="http://schemas.microsoft.com/office/drawing/2014/main" id="{D1742547-1501-DDAE-CD8D-E010DBE510F2}"/>
              </a:ext>
            </a:extLst>
          </p:cNvPr>
          <p:cNvPicPr>
            <a:picLocks noChangeAspect="1"/>
          </p:cNvPicPr>
          <p:nvPr/>
        </p:nvPicPr>
        <p:blipFill>
          <a:blip r:embed="rId3"/>
          <a:stretch>
            <a:fillRect/>
          </a:stretch>
        </p:blipFill>
        <p:spPr>
          <a:xfrm>
            <a:off x="8765222" y="6187440"/>
            <a:ext cx="3426778" cy="500713"/>
          </a:xfrm>
          <a:prstGeom prst="rect">
            <a:avLst/>
          </a:prstGeom>
        </p:spPr>
      </p:pic>
      <p:pic>
        <p:nvPicPr>
          <p:cNvPr id="6" name="Picture 5">
            <a:extLst>
              <a:ext uri="{FF2B5EF4-FFF2-40B4-BE49-F238E27FC236}">
                <a16:creationId xmlns:a16="http://schemas.microsoft.com/office/drawing/2014/main" id="{48FF8AB8-FA7D-3C48-4CDB-1641D70EB807}"/>
              </a:ext>
            </a:extLst>
          </p:cNvPr>
          <p:cNvPicPr>
            <a:picLocks noChangeAspect="1"/>
          </p:cNvPicPr>
          <p:nvPr/>
        </p:nvPicPr>
        <p:blipFill>
          <a:blip r:embed="rId4"/>
          <a:stretch>
            <a:fillRect/>
          </a:stretch>
        </p:blipFill>
        <p:spPr>
          <a:xfrm>
            <a:off x="33338" y="1116058"/>
            <a:ext cx="12125324" cy="5668589"/>
          </a:xfrm>
          <a:prstGeom prst="rect">
            <a:avLst/>
          </a:prstGeom>
        </p:spPr>
      </p:pic>
    </p:spTree>
    <p:extLst>
      <p:ext uri="{BB962C8B-B14F-4D97-AF65-F5344CB8AC3E}">
        <p14:creationId xmlns:p14="http://schemas.microsoft.com/office/powerpoint/2010/main" val="1114526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2729F0D-86FC-1E39-04CB-44BBB333EF39}"/>
              </a:ext>
            </a:extLst>
          </p:cNvPr>
          <p:cNvSpPr>
            <a:spLocks noGrp="1"/>
          </p:cNvSpPr>
          <p:nvPr>
            <p:ph type="body" idx="2"/>
          </p:nvPr>
        </p:nvSpPr>
        <p:spPr>
          <a:xfrm>
            <a:off x="0" y="1143000"/>
            <a:ext cx="12192000" cy="4724400"/>
          </a:xfrm>
        </p:spPr>
        <p:txBody>
          <a:bodyPr>
            <a:normAutofit/>
          </a:bodyPr>
          <a:lstStyle/>
          <a:p>
            <a:r>
              <a:rPr lang="en-US" sz="5400" dirty="0">
                <a:latin typeface="Times New Roman" panose="02020603050405020304" pitchFamily="18" charset="0"/>
                <a:cs typeface="Times New Roman" panose="02020603050405020304" pitchFamily="18" charset="0"/>
              </a:rPr>
              <a:t>Pictorial Representation of Results achieved by various machine learning algorithms-</a:t>
            </a:r>
          </a:p>
        </p:txBody>
      </p:sp>
    </p:spTree>
    <p:extLst>
      <p:ext uri="{BB962C8B-B14F-4D97-AF65-F5344CB8AC3E}">
        <p14:creationId xmlns:p14="http://schemas.microsoft.com/office/powerpoint/2010/main" val="2341728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A3FB24-0BE8-6763-BB6B-288D627B057E}"/>
              </a:ext>
            </a:extLst>
          </p:cNvPr>
          <p:cNvPicPr>
            <a:picLocks noChangeAspect="1"/>
          </p:cNvPicPr>
          <p:nvPr/>
        </p:nvPicPr>
        <p:blipFill rotWithShape="1">
          <a:blip r:embed="rId2"/>
          <a:srcRect l="10536" t="16197" r="7963" b="26713"/>
          <a:stretch/>
        </p:blipFill>
        <p:spPr>
          <a:xfrm>
            <a:off x="9113520" y="73353"/>
            <a:ext cx="2895600" cy="1158240"/>
          </a:xfrm>
          <a:prstGeom prst="rect">
            <a:avLst/>
          </a:prstGeom>
        </p:spPr>
      </p:pic>
      <p:pic>
        <p:nvPicPr>
          <p:cNvPr id="5" name="Picture 4">
            <a:extLst>
              <a:ext uri="{FF2B5EF4-FFF2-40B4-BE49-F238E27FC236}">
                <a16:creationId xmlns:a16="http://schemas.microsoft.com/office/drawing/2014/main" id="{D1742547-1501-DDAE-CD8D-E010DBE510F2}"/>
              </a:ext>
            </a:extLst>
          </p:cNvPr>
          <p:cNvPicPr>
            <a:picLocks noChangeAspect="1"/>
          </p:cNvPicPr>
          <p:nvPr/>
        </p:nvPicPr>
        <p:blipFill>
          <a:blip r:embed="rId3"/>
          <a:stretch>
            <a:fillRect/>
          </a:stretch>
        </p:blipFill>
        <p:spPr>
          <a:xfrm>
            <a:off x="8765222" y="6187440"/>
            <a:ext cx="3426778" cy="500713"/>
          </a:xfrm>
          <a:prstGeom prst="rect">
            <a:avLst/>
          </a:prstGeom>
        </p:spPr>
      </p:pic>
      <p:pic>
        <p:nvPicPr>
          <p:cNvPr id="7" name="Picture 6">
            <a:extLst>
              <a:ext uri="{FF2B5EF4-FFF2-40B4-BE49-F238E27FC236}">
                <a16:creationId xmlns:a16="http://schemas.microsoft.com/office/drawing/2014/main" id="{4BF9BF07-083A-43FE-CDCE-528C9C54ACB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1961" y="1231593"/>
            <a:ext cx="5969635" cy="5441714"/>
          </a:xfrm>
          <a:prstGeom prst="rect">
            <a:avLst/>
          </a:prstGeom>
          <a:noFill/>
          <a:ln>
            <a:noFill/>
          </a:ln>
        </p:spPr>
      </p:pic>
      <p:sp>
        <p:nvSpPr>
          <p:cNvPr id="9" name="TextBox 8">
            <a:extLst>
              <a:ext uri="{FF2B5EF4-FFF2-40B4-BE49-F238E27FC236}">
                <a16:creationId xmlns:a16="http://schemas.microsoft.com/office/drawing/2014/main" id="{C130EE58-D235-C43D-5E2B-2987EEA45FB7}"/>
              </a:ext>
            </a:extLst>
          </p:cNvPr>
          <p:cNvSpPr txBox="1"/>
          <p:nvPr/>
        </p:nvSpPr>
        <p:spPr>
          <a:xfrm>
            <a:off x="1371600" y="548640"/>
            <a:ext cx="5364480" cy="369332"/>
          </a:xfrm>
          <a:prstGeom prst="rect">
            <a:avLst/>
          </a:prstGeom>
          <a:noFill/>
        </p:spPr>
        <p:txBody>
          <a:bodyPr wrap="square" rtlCol="0">
            <a:spAutoFit/>
          </a:bodyPr>
          <a:lstStyle/>
          <a:p>
            <a:pPr algn="ctr"/>
            <a:r>
              <a:rPr lang="en-US" sz="1800" b="1" spc="-10" dirty="0">
                <a:effectLst/>
                <a:latin typeface="Times New Roman" panose="02020603050405020304" pitchFamily="18" charset="0"/>
                <a:ea typeface="Times New Roman" panose="02020603050405020304" pitchFamily="18" charset="0"/>
              </a:rPr>
              <a:t> </a:t>
            </a:r>
            <a:r>
              <a:rPr lang="en-US" sz="1800" b="1" spc="-10" dirty="0" err="1">
                <a:latin typeface="Times New Roman" panose="02020603050405020304" pitchFamily="18" charset="0"/>
                <a:ea typeface="Times New Roman" panose="02020603050405020304" pitchFamily="18" charset="0"/>
              </a:rPr>
              <a:t>H</a:t>
            </a:r>
            <a:r>
              <a:rPr lang="en-US" sz="1800" b="1" spc="-10" dirty="0" err="1">
                <a:effectLst/>
                <a:latin typeface="Times New Roman" panose="02020603050405020304" pitchFamily="18" charset="0"/>
                <a:ea typeface="Times New Roman" panose="02020603050405020304" pitchFamily="18" charset="0"/>
              </a:rPr>
              <a:t>istograph</a:t>
            </a:r>
            <a:r>
              <a:rPr lang="en-US" sz="1800" b="1" spc="-1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of</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Logistic</a:t>
            </a:r>
            <a:r>
              <a:rPr lang="en-US" sz="1800" b="1" spc="-1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Regression</a:t>
            </a:r>
            <a:endParaRPr lang="en-US" dirty="0"/>
          </a:p>
        </p:txBody>
      </p:sp>
      <p:pic>
        <p:nvPicPr>
          <p:cNvPr id="10" name="Picture 9">
            <a:extLst>
              <a:ext uri="{FF2B5EF4-FFF2-40B4-BE49-F238E27FC236}">
                <a16:creationId xmlns:a16="http://schemas.microsoft.com/office/drawing/2014/main" id="{6DBF2987-EEB0-31BD-E8C6-DDED410AA8E9}"/>
              </a:ext>
            </a:extLst>
          </p:cNvPr>
          <p:cNvPicPr>
            <a:picLocks noChangeAspect="1"/>
          </p:cNvPicPr>
          <p:nvPr/>
        </p:nvPicPr>
        <p:blipFill>
          <a:blip r:embed="rId5"/>
          <a:stretch>
            <a:fillRect/>
          </a:stretch>
        </p:blipFill>
        <p:spPr>
          <a:xfrm>
            <a:off x="6583210" y="1394284"/>
            <a:ext cx="5425910" cy="2034716"/>
          </a:xfrm>
          <a:prstGeom prst="rect">
            <a:avLst/>
          </a:prstGeom>
        </p:spPr>
      </p:pic>
    </p:spTree>
    <p:extLst>
      <p:ext uri="{BB962C8B-B14F-4D97-AF65-F5344CB8AC3E}">
        <p14:creationId xmlns:p14="http://schemas.microsoft.com/office/powerpoint/2010/main" val="1696083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0F5455B-293B-470E-6E5C-4287432E9C5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842" y="1312545"/>
            <a:ext cx="5541675" cy="3268980"/>
          </a:xfrm>
          <a:prstGeom prst="rect">
            <a:avLst/>
          </a:prstGeom>
          <a:noFill/>
          <a:ln>
            <a:noFill/>
          </a:ln>
        </p:spPr>
      </p:pic>
      <p:sp>
        <p:nvSpPr>
          <p:cNvPr id="6" name="TextBox 5">
            <a:extLst>
              <a:ext uri="{FF2B5EF4-FFF2-40B4-BE49-F238E27FC236}">
                <a16:creationId xmlns:a16="http://schemas.microsoft.com/office/drawing/2014/main" id="{44163301-8908-2FA5-6196-4670747A7C83}"/>
              </a:ext>
            </a:extLst>
          </p:cNvPr>
          <p:cNvSpPr txBox="1"/>
          <p:nvPr/>
        </p:nvSpPr>
        <p:spPr>
          <a:xfrm>
            <a:off x="611217" y="4743450"/>
            <a:ext cx="5067300" cy="369332"/>
          </a:xfrm>
          <a:prstGeom prst="rect">
            <a:avLst/>
          </a:prstGeom>
          <a:noFill/>
        </p:spPr>
        <p:txBody>
          <a:bodyPr wrap="square" rtlCol="0">
            <a:spAutoFit/>
          </a:bodyPr>
          <a:lstStyle/>
          <a:p>
            <a:pPr algn="ctr"/>
            <a:r>
              <a:rPr lang="en-US" sz="1800" b="1" dirty="0" err="1">
                <a:effectLst/>
                <a:latin typeface="Times New Roman" panose="02020603050405020304" pitchFamily="18" charset="0"/>
                <a:ea typeface="Times New Roman" panose="02020603050405020304" pitchFamily="18" charset="0"/>
              </a:rPr>
              <a:t>Bargraph</a:t>
            </a:r>
            <a:r>
              <a:rPr lang="en-US" sz="1800" b="1" dirty="0">
                <a:effectLst/>
                <a:latin typeface="Times New Roman" panose="02020603050405020304" pitchFamily="18" charset="0"/>
                <a:ea typeface="Times New Roman" panose="02020603050405020304" pitchFamily="18" charset="0"/>
              </a:rPr>
              <a:t> of</a:t>
            </a:r>
            <a:r>
              <a:rPr lang="en-US" sz="1800" b="1" spc="-1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Random</a:t>
            </a:r>
            <a:r>
              <a:rPr lang="en-US" sz="1800" b="1" spc="-1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Forest</a:t>
            </a:r>
            <a:endParaRPr lang="en-US" dirty="0"/>
          </a:p>
        </p:txBody>
      </p:sp>
      <p:pic>
        <p:nvPicPr>
          <p:cNvPr id="8" name="Picture 7">
            <a:extLst>
              <a:ext uri="{FF2B5EF4-FFF2-40B4-BE49-F238E27FC236}">
                <a16:creationId xmlns:a16="http://schemas.microsoft.com/office/drawing/2014/main" id="{40FA74EE-9715-B9D3-36A1-9A2AB6A8EBBA}"/>
              </a:ext>
            </a:extLst>
          </p:cNvPr>
          <p:cNvPicPr>
            <a:picLocks noChangeAspect="1"/>
          </p:cNvPicPr>
          <p:nvPr/>
        </p:nvPicPr>
        <p:blipFill>
          <a:blip r:embed="rId3"/>
          <a:stretch>
            <a:fillRect/>
          </a:stretch>
        </p:blipFill>
        <p:spPr>
          <a:xfrm>
            <a:off x="6029325" y="1415278"/>
            <a:ext cx="5880112" cy="2356621"/>
          </a:xfrm>
          <a:prstGeom prst="rect">
            <a:avLst/>
          </a:prstGeom>
        </p:spPr>
      </p:pic>
    </p:spTree>
    <p:extLst>
      <p:ext uri="{BB962C8B-B14F-4D97-AF65-F5344CB8AC3E}">
        <p14:creationId xmlns:p14="http://schemas.microsoft.com/office/powerpoint/2010/main" val="4263025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6A38EE5-4B0C-29B2-C3A3-899759AFE629}"/>
              </a:ext>
            </a:extLst>
          </p:cNvPr>
          <p:cNvSpPr txBox="1"/>
          <p:nvPr/>
        </p:nvSpPr>
        <p:spPr>
          <a:xfrm>
            <a:off x="3432810" y="5741671"/>
            <a:ext cx="4282440" cy="369332"/>
          </a:xfrm>
          <a:prstGeom prst="rect">
            <a:avLst/>
          </a:prstGeom>
          <a:noFill/>
        </p:spPr>
        <p:txBody>
          <a:bodyPr wrap="square" rtlCol="0">
            <a:spAutoFit/>
          </a:bodyPr>
          <a:lstStyle/>
          <a:p>
            <a:pPr algn="ctr"/>
            <a:r>
              <a:rPr lang="en-US" sz="1800" b="1" dirty="0">
                <a:effectLst/>
                <a:latin typeface="Times New Roman" panose="02020603050405020304" pitchFamily="18" charset="0"/>
                <a:ea typeface="Times New Roman" panose="02020603050405020304" pitchFamily="18" charset="0"/>
              </a:rPr>
              <a:t>Confusion matrix of random </a:t>
            </a:r>
            <a:endParaRPr lang="en-US" dirty="0"/>
          </a:p>
        </p:txBody>
      </p:sp>
      <p:pic>
        <p:nvPicPr>
          <p:cNvPr id="4" name="Picture 3">
            <a:extLst>
              <a:ext uri="{FF2B5EF4-FFF2-40B4-BE49-F238E27FC236}">
                <a16:creationId xmlns:a16="http://schemas.microsoft.com/office/drawing/2014/main" id="{B7F20D3F-5A3C-5183-3E3E-E266BF07E6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36267" y="1522096"/>
            <a:ext cx="5275526" cy="4219575"/>
          </a:xfrm>
          <a:prstGeom prst="rect">
            <a:avLst/>
          </a:prstGeom>
        </p:spPr>
      </p:pic>
    </p:spTree>
    <p:extLst>
      <p:ext uri="{BB962C8B-B14F-4D97-AF65-F5344CB8AC3E}">
        <p14:creationId xmlns:p14="http://schemas.microsoft.com/office/powerpoint/2010/main" val="1422643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4C68C4A-7BDC-7612-0D54-904C53779D5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2532" y="1210119"/>
            <a:ext cx="4516120" cy="3517265"/>
          </a:xfrm>
          <a:prstGeom prst="rect">
            <a:avLst/>
          </a:prstGeom>
          <a:noFill/>
          <a:ln>
            <a:noFill/>
          </a:ln>
        </p:spPr>
      </p:pic>
      <p:pic>
        <p:nvPicPr>
          <p:cNvPr id="8" name="Picture 7">
            <a:extLst>
              <a:ext uri="{FF2B5EF4-FFF2-40B4-BE49-F238E27FC236}">
                <a16:creationId xmlns:a16="http://schemas.microsoft.com/office/drawing/2014/main" id="{85186F9C-24B6-89EA-9DC1-93D397BFBE68}"/>
              </a:ext>
            </a:extLst>
          </p:cNvPr>
          <p:cNvPicPr>
            <a:picLocks noChangeAspect="1"/>
          </p:cNvPicPr>
          <p:nvPr/>
        </p:nvPicPr>
        <p:blipFill>
          <a:blip r:embed="rId3"/>
          <a:stretch>
            <a:fillRect/>
          </a:stretch>
        </p:blipFill>
        <p:spPr>
          <a:xfrm>
            <a:off x="5126990" y="1772539"/>
            <a:ext cx="5778500" cy="2142490"/>
          </a:xfrm>
          <a:prstGeom prst="rect">
            <a:avLst/>
          </a:prstGeom>
        </p:spPr>
      </p:pic>
      <p:sp>
        <p:nvSpPr>
          <p:cNvPr id="9" name="TextBox 8">
            <a:extLst>
              <a:ext uri="{FF2B5EF4-FFF2-40B4-BE49-F238E27FC236}">
                <a16:creationId xmlns:a16="http://schemas.microsoft.com/office/drawing/2014/main" id="{055DC1BF-4A9D-8359-C023-257FD6B0D7BF}"/>
              </a:ext>
            </a:extLst>
          </p:cNvPr>
          <p:cNvSpPr txBox="1"/>
          <p:nvPr/>
        </p:nvSpPr>
        <p:spPr>
          <a:xfrm>
            <a:off x="868680" y="5349240"/>
            <a:ext cx="3672840" cy="369332"/>
          </a:xfrm>
          <a:prstGeom prst="rect">
            <a:avLst/>
          </a:prstGeom>
          <a:noFill/>
        </p:spPr>
        <p:txBody>
          <a:bodyPr wrap="square" rtlCol="0">
            <a:spAutoFit/>
          </a:bodyPr>
          <a:lstStyle/>
          <a:p>
            <a:pPr algn="ctr"/>
            <a:r>
              <a:rPr lang="en-US" sz="1800" b="1" spc="-5" dirty="0">
                <a:effectLst/>
                <a:latin typeface="Times New Roman" panose="02020603050405020304" pitchFamily="18" charset="0"/>
                <a:ea typeface="Times New Roman" panose="02020603050405020304" pitchFamily="18" charset="0"/>
              </a:rPr>
              <a:t>True positive vs False positive</a:t>
            </a:r>
            <a:endParaRPr lang="en-US" dirty="0"/>
          </a:p>
        </p:txBody>
      </p:sp>
      <p:sp>
        <p:nvSpPr>
          <p:cNvPr id="10" name="TextBox 9">
            <a:extLst>
              <a:ext uri="{FF2B5EF4-FFF2-40B4-BE49-F238E27FC236}">
                <a16:creationId xmlns:a16="http://schemas.microsoft.com/office/drawing/2014/main" id="{2C03E83F-0C26-749B-45D5-AE8050C63410}"/>
              </a:ext>
            </a:extLst>
          </p:cNvPr>
          <p:cNvSpPr txBox="1"/>
          <p:nvPr/>
        </p:nvSpPr>
        <p:spPr>
          <a:xfrm>
            <a:off x="6284595" y="4174934"/>
            <a:ext cx="4693920" cy="369332"/>
          </a:xfrm>
          <a:prstGeom prst="rect">
            <a:avLst/>
          </a:prstGeom>
          <a:noFill/>
        </p:spPr>
        <p:txBody>
          <a:bodyPr wrap="square" rtlCol="0">
            <a:spAutoFit/>
          </a:bodyPr>
          <a:lstStyle/>
          <a:p>
            <a:pPr algn="ctr"/>
            <a:r>
              <a:rPr lang="en-US" sz="1800" b="1" spc="-5" dirty="0">
                <a:effectLst/>
                <a:latin typeface="Times New Roman" panose="02020603050405020304" pitchFamily="18" charset="0"/>
                <a:ea typeface="Times New Roman" panose="02020603050405020304" pitchFamily="18" charset="0"/>
              </a:rPr>
              <a:t>Class Distribution before </a:t>
            </a:r>
            <a:r>
              <a:rPr lang="en-US" sz="1800" b="1" spc="-5" dirty="0" err="1">
                <a:effectLst/>
                <a:latin typeface="Times New Roman" panose="02020603050405020304" pitchFamily="18" charset="0"/>
                <a:ea typeface="Times New Roman" panose="02020603050405020304" pitchFamily="18" charset="0"/>
              </a:rPr>
              <a:t>undersampling</a:t>
            </a:r>
            <a:endParaRPr lang="en-US" dirty="0"/>
          </a:p>
        </p:txBody>
      </p:sp>
    </p:spTree>
    <p:extLst>
      <p:ext uri="{BB962C8B-B14F-4D97-AF65-F5344CB8AC3E}">
        <p14:creationId xmlns:p14="http://schemas.microsoft.com/office/powerpoint/2010/main" val="37723674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CC4A11B-0112-316B-A540-FA11335556E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7500" y="1276667"/>
            <a:ext cx="5778500" cy="3866515"/>
          </a:xfrm>
          <a:prstGeom prst="rect">
            <a:avLst/>
          </a:prstGeom>
          <a:noFill/>
          <a:ln>
            <a:noFill/>
          </a:ln>
        </p:spPr>
      </p:pic>
      <p:sp>
        <p:nvSpPr>
          <p:cNvPr id="8" name="TextBox 7">
            <a:extLst>
              <a:ext uri="{FF2B5EF4-FFF2-40B4-BE49-F238E27FC236}">
                <a16:creationId xmlns:a16="http://schemas.microsoft.com/office/drawing/2014/main" id="{1685FF57-1333-4C0E-43E9-B735CE2576E4}"/>
              </a:ext>
            </a:extLst>
          </p:cNvPr>
          <p:cNvSpPr txBox="1"/>
          <p:nvPr/>
        </p:nvSpPr>
        <p:spPr>
          <a:xfrm>
            <a:off x="763905" y="5212001"/>
            <a:ext cx="4739640" cy="369332"/>
          </a:xfrm>
          <a:prstGeom prst="rect">
            <a:avLst/>
          </a:prstGeom>
          <a:noFill/>
        </p:spPr>
        <p:txBody>
          <a:bodyPr wrap="square" rtlCol="0">
            <a:spAutoFit/>
          </a:bodyPr>
          <a:lstStyle/>
          <a:p>
            <a:pPr algn="ctr"/>
            <a:r>
              <a:rPr lang="en-US" sz="1800" b="1" spc="-5" dirty="0">
                <a:effectLst/>
                <a:latin typeface="Times New Roman" panose="02020603050405020304" pitchFamily="18" charset="0"/>
                <a:ea typeface="Times New Roman" panose="02020603050405020304" pitchFamily="18" charset="0"/>
              </a:rPr>
              <a:t>Graph for Decision Tree</a:t>
            </a:r>
            <a:endParaRPr lang="en-US" dirty="0"/>
          </a:p>
        </p:txBody>
      </p:sp>
      <p:pic>
        <p:nvPicPr>
          <p:cNvPr id="10" name="Picture 9">
            <a:extLst>
              <a:ext uri="{FF2B5EF4-FFF2-40B4-BE49-F238E27FC236}">
                <a16:creationId xmlns:a16="http://schemas.microsoft.com/office/drawing/2014/main" id="{B1855ACE-F148-1BAB-6BA2-BD64839BF50F}"/>
              </a:ext>
            </a:extLst>
          </p:cNvPr>
          <p:cNvPicPr>
            <a:picLocks noChangeAspect="1"/>
          </p:cNvPicPr>
          <p:nvPr/>
        </p:nvPicPr>
        <p:blipFill>
          <a:blip r:embed="rId3"/>
          <a:stretch>
            <a:fillRect/>
          </a:stretch>
        </p:blipFill>
        <p:spPr>
          <a:xfrm>
            <a:off x="6096000" y="1392485"/>
            <a:ext cx="5622116" cy="2541340"/>
          </a:xfrm>
          <a:prstGeom prst="rect">
            <a:avLst/>
          </a:prstGeom>
        </p:spPr>
      </p:pic>
    </p:spTree>
    <p:extLst>
      <p:ext uri="{BB962C8B-B14F-4D97-AF65-F5344CB8AC3E}">
        <p14:creationId xmlns:p14="http://schemas.microsoft.com/office/powerpoint/2010/main" val="3621742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7BDD30A-B65F-98BC-7B0A-995AE08DB4B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26492" y="1431798"/>
            <a:ext cx="4676775" cy="3940810"/>
          </a:xfrm>
          <a:prstGeom prst="rect">
            <a:avLst/>
          </a:prstGeom>
          <a:noFill/>
          <a:ln>
            <a:noFill/>
          </a:ln>
        </p:spPr>
      </p:pic>
      <p:sp>
        <p:nvSpPr>
          <p:cNvPr id="10" name="TextBox 9">
            <a:extLst>
              <a:ext uri="{FF2B5EF4-FFF2-40B4-BE49-F238E27FC236}">
                <a16:creationId xmlns:a16="http://schemas.microsoft.com/office/drawing/2014/main" id="{EB4A039A-2E28-6919-403D-BD3534DC5BE2}"/>
              </a:ext>
            </a:extLst>
          </p:cNvPr>
          <p:cNvSpPr txBox="1"/>
          <p:nvPr/>
        </p:nvSpPr>
        <p:spPr>
          <a:xfrm>
            <a:off x="575881" y="5372608"/>
            <a:ext cx="4017645" cy="584775"/>
          </a:xfrm>
          <a:prstGeom prst="rect">
            <a:avLst/>
          </a:prstGeom>
          <a:noFill/>
        </p:spPr>
        <p:txBody>
          <a:bodyPr wrap="square" rtlCol="0">
            <a:spAutoFit/>
          </a:bodyPr>
          <a:lstStyle/>
          <a:p>
            <a:pPr algn="ctr"/>
            <a:r>
              <a:rPr lang="en-US" sz="1800" b="1" dirty="0">
                <a:effectLst/>
                <a:latin typeface="Times New Roman" panose="02020603050405020304" pitchFamily="18" charset="0"/>
                <a:ea typeface="Times New Roman" panose="02020603050405020304" pitchFamily="18" charset="0"/>
              </a:rPr>
              <a:t>Confusion matrix of neural network</a:t>
            </a:r>
            <a:endParaRPr lang="en-US" sz="1800" dirty="0">
              <a:effectLst/>
              <a:latin typeface="Times New Roman" panose="02020603050405020304" pitchFamily="18" charset="0"/>
              <a:ea typeface="Times New Roman" panose="02020603050405020304" pitchFamily="18" charset="0"/>
            </a:endParaRPr>
          </a:p>
          <a:p>
            <a:pPr algn="ctr"/>
            <a:endParaRPr lang="en-US" dirty="0"/>
          </a:p>
        </p:txBody>
      </p:sp>
      <p:sp>
        <p:nvSpPr>
          <p:cNvPr id="11" name="TextBox 10">
            <a:extLst>
              <a:ext uri="{FF2B5EF4-FFF2-40B4-BE49-F238E27FC236}">
                <a16:creationId xmlns:a16="http://schemas.microsoft.com/office/drawing/2014/main" id="{06186CEF-71F8-79A9-0B73-BBB968591F01}"/>
              </a:ext>
            </a:extLst>
          </p:cNvPr>
          <p:cNvSpPr txBox="1"/>
          <p:nvPr/>
        </p:nvSpPr>
        <p:spPr>
          <a:xfrm>
            <a:off x="6911339" y="5426202"/>
            <a:ext cx="3307080" cy="369332"/>
          </a:xfrm>
          <a:prstGeom prst="rect">
            <a:avLst/>
          </a:prstGeom>
          <a:noFill/>
        </p:spPr>
        <p:txBody>
          <a:bodyPr wrap="square" rtlCol="0">
            <a:spAutoFit/>
          </a:bodyPr>
          <a:lstStyle/>
          <a:p>
            <a:pPr algn="ctr"/>
            <a:r>
              <a:rPr lang="en-US" sz="1800" b="1" dirty="0">
                <a:effectLst/>
                <a:latin typeface="Times New Roman" panose="02020603050405020304" pitchFamily="18" charset="0"/>
                <a:ea typeface="Times New Roman" panose="02020603050405020304" pitchFamily="18" charset="0"/>
              </a:rPr>
              <a:t>Confusion matrix of SVM</a:t>
            </a:r>
            <a:endParaRPr lang="en-US" dirty="0"/>
          </a:p>
        </p:txBody>
      </p:sp>
      <p:pic>
        <p:nvPicPr>
          <p:cNvPr id="2" name="Picture 1">
            <a:extLst>
              <a:ext uri="{FF2B5EF4-FFF2-40B4-BE49-F238E27FC236}">
                <a16:creationId xmlns:a16="http://schemas.microsoft.com/office/drawing/2014/main" id="{BD5A7B2F-7A05-BB74-4580-BCCE5A63B72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0100" y="1663382"/>
            <a:ext cx="3962400" cy="3169285"/>
          </a:xfrm>
          <a:prstGeom prst="rect">
            <a:avLst/>
          </a:prstGeom>
        </p:spPr>
      </p:pic>
    </p:spTree>
    <p:extLst>
      <p:ext uri="{BB962C8B-B14F-4D97-AF65-F5344CB8AC3E}">
        <p14:creationId xmlns:p14="http://schemas.microsoft.com/office/powerpoint/2010/main" val="4168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91B1B45-D583-536D-7C1B-D89EB26C3EE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06750" y="1135027"/>
            <a:ext cx="5203825" cy="5157505"/>
          </a:xfrm>
          <a:prstGeom prst="rect">
            <a:avLst/>
          </a:prstGeom>
          <a:noFill/>
          <a:ln>
            <a:noFill/>
          </a:ln>
        </p:spPr>
      </p:pic>
      <p:sp>
        <p:nvSpPr>
          <p:cNvPr id="8" name="TextBox 7">
            <a:extLst>
              <a:ext uri="{FF2B5EF4-FFF2-40B4-BE49-F238E27FC236}">
                <a16:creationId xmlns:a16="http://schemas.microsoft.com/office/drawing/2014/main" id="{2538A77F-A925-E11C-AD1D-ECC80F2A37DE}"/>
              </a:ext>
            </a:extLst>
          </p:cNvPr>
          <p:cNvSpPr txBox="1"/>
          <p:nvPr/>
        </p:nvSpPr>
        <p:spPr>
          <a:xfrm>
            <a:off x="4282440" y="6292532"/>
            <a:ext cx="3916680" cy="369332"/>
          </a:xfrm>
          <a:prstGeom prst="rect">
            <a:avLst/>
          </a:prstGeom>
          <a:noFill/>
        </p:spPr>
        <p:txBody>
          <a:bodyPr wrap="square" rtlCol="0">
            <a:spAutoFit/>
          </a:bodyPr>
          <a:lstStyle/>
          <a:p>
            <a:pPr algn="ctr"/>
            <a:r>
              <a:rPr lang="en-US" sz="1800" b="1" dirty="0">
                <a:effectLst/>
                <a:latin typeface="Times New Roman" panose="02020603050405020304" pitchFamily="18" charset="0"/>
                <a:ea typeface="Times New Roman" panose="02020603050405020304" pitchFamily="18" charset="0"/>
              </a:rPr>
              <a:t>Scatter matrix </a:t>
            </a:r>
            <a:endParaRPr lang="en-US" dirty="0"/>
          </a:p>
        </p:txBody>
      </p:sp>
    </p:spTree>
    <p:extLst>
      <p:ext uri="{BB962C8B-B14F-4D97-AF65-F5344CB8AC3E}">
        <p14:creationId xmlns:p14="http://schemas.microsoft.com/office/powerpoint/2010/main" val="2115971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7BE06-F733-31B7-8F43-5AB23513DE50}"/>
              </a:ext>
            </a:extLst>
          </p:cNvPr>
          <p:cNvSpPr>
            <a:spLocks noGrp="1"/>
          </p:cNvSpPr>
          <p:nvPr>
            <p:ph type="title"/>
          </p:nvPr>
        </p:nvSpPr>
        <p:spPr>
          <a:xfrm>
            <a:off x="173038" y="122237"/>
            <a:ext cx="10515600" cy="1325563"/>
          </a:xfrm>
        </p:spPr>
        <p:txBody>
          <a:bodyPr/>
          <a:lstStyle/>
          <a:p>
            <a:r>
              <a:rPr lang="en-US" dirty="0"/>
              <a:t>Machine Learning Techniques used</a:t>
            </a:r>
          </a:p>
        </p:txBody>
      </p:sp>
      <p:sp>
        <p:nvSpPr>
          <p:cNvPr id="7" name="TextBox 6">
            <a:extLst>
              <a:ext uri="{FF2B5EF4-FFF2-40B4-BE49-F238E27FC236}">
                <a16:creationId xmlns:a16="http://schemas.microsoft.com/office/drawing/2014/main" id="{E72031C3-CD94-E2C8-5C46-F8A0935CDEE8}"/>
              </a:ext>
            </a:extLst>
          </p:cNvPr>
          <p:cNvSpPr txBox="1"/>
          <p:nvPr/>
        </p:nvSpPr>
        <p:spPr>
          <a:xfrm>
            <a:off x="0" y="1447800"/>
            <a:ext cx="11906250" cy="4524315"/>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Neural Network- This algorithm is used by various researchers for detecting the CCF. Researchers (Murli, et al 2015) said the credit frauds are increasing because of the increasing interest in online shopping. They implemented a mechanism based on neural network to detect this kind of fraud. Researchers also used this algorithm for the detection of increasing CCF activities. </a:t>
            </a:r>
          </a:p>
          <a:p>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Decision Tree- We used the decision tree for the detection of credit card frauds. Researchers said, increasing use of internet and online business is also increasing so it is necessary to have a mechanism to deal with this problem. Researchers also used this algorithm for CCF detection. CCF affects both i.e. merchants and the individual clients. This makes it an interesting topic in the machine learning (Gaikwad et al., 2014). </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84897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964E1C6-608F-1C2C-039F-46CEDFA80DD4}"/>
              </a:ext>
            </a:extLst>
          </p:cNvPr>
          <p:cNvSpPr txBox="1"/>
          <p:nvPr/>
        </p:nvSpPr>
        <p:spPr>
          <a:xfrm>
            <a:off x="0" y="1251857"/>
            <a:ext cx="12192000"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t> Random Forest-We used this algorithm for detecting the increasing CCFs in online and offline payments. Criminal’s theft the credit information by using different techniques such as phishing or Trojan (</a:t>
            </a:r>
            <a:r>
              <a:rPr lang="en-US" sz="2400" dirty="0" err="1"/>
              <a:t>Donepudi</a:t>
            </a:r>
            <a:r>
              <a:rPr lang="en-US" sz="2400" dirty="0"/>
              <a:t>, 2014).</a:t>
            </a:r>
          </a:p>
          <a:p>
            <a:pPr marL="285750" indent="-285750">
              <a:buFont typeface="Arial" panose="020B0604020202020204" pitchFamily="34" charset="0"/>
              <a:buChar char="•"/>
            </a:pPr>
            <a:r>
              <a:rPr lang="en-US" sz="2400" dirty="0"/>
              <a:t>SVM- We proposed a new approach to detect the CCF. This approach is based on SVM and detects the fraud on the basis of the customer’s behavior. Researchers (Movva et al., 2012) also used a support vector based approach to save the bank from different kind of frauds on the basis of customers’ behavior. </a:t>
            </a:r>
          </a:p>
          <a:p>
            <a:endParaRPr lang="en-US" sz="2400" dirty="0"/>
          </a:p>
          <a:p>
            <a:pPr marL="285750" indent="-285750">
              <a:buFont typeface="Arial" panose="020B0604020202020204" pitchFamily="34" charset="0"/>
              <a:buChar char="•"/>
            </a:pPr>
            <a:r>
              <a:rPr lang="en-US" sz="2400" dirty="0"/>
              <a:t>Logistic Regression- We used this algorithm to detect the increasing frauds related to the credit. Researchers said this is an important and rising issue in the financial sector. Researchers (Movva et al., 2012) compared performance of different ML algorithms for CCF detection. This algorithm is considered better than the other algorithms on the basis of results. </a:t>
            </a:r>
          </a:p>
          <a:p>
            <a:pPr marL="457200" indent="-457200">
              <a:buFont typeface="Arial" panose="020B0604020202020204" pitchFamily="34" charset="0"/>
              <a:buChar char="•"/>
            </a:pPr>
            <a:endParaRPr lang="en-US" sz="2400" dirty="0"/>
          </a:p>
        </p:txBody>
      </p:sp>
    </p:spTree>
    <p:extLst>
      <p:ext uri="{BB962C8B-B14F-4D97-AF65-F5344CB8AC3E}">
        <p14:creationId xmlns:p14="http://schemas.microsoft.com/office/powerpoint/2010/main" val="24958377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5DA9F-27A4-43C1-C3FA-456DEA5A89C1}"/>
              </a:ext>
            </a:extLst>
          </p:cNvPr>
          <p:cNvSpPr>
            <a:spLocks noGrp="1"/>
          </p:cNvSpPr>
          <p:nvPr>
            <p:ph type="title"/>
          </p:nvPr>
        </p:nvSpPr>
        <p:spPr>
          <a:xfrm>
            <a:off x="754063" y="171450"/>
            <a:ext cx="10515600" cy="1325563"/>
          </a:xfrm>
        </p:spPr>
        <p:txBody>
          <a:bodyPr/>
          <a:lstStyle/>
          <a:p>
            <a:pPr algn="ctr"/>
            <a:r>
              <a:rPr lang="en-US" dirty="0"/>
              <a:t>Conclusion </a:t>
            </a:r>
          </a:p>
        </p:txBody>
      </p:sp>
      <p:sp>
        <p:nvSpPr>
          <p:cNvPr id="6" name="Text Placeholder 5">
            <a:extLst>
              <a:ext uri="{FF2B5EF4-FFF2-40B4-BE49-F238E27FC236}">
                <a16:creationId xmlns:a16="http://schemas.microsoft.com/office/drawing/2014/main" id="{6E913EAB-A6E5-4FC1-290D-FA92C968DF9F}"/>
              </a:ext>
            </a:extLst>
          </p:cNvPr>
          <p:cNvSpPr>
            <a:spLocks noGrp="1"/>
          </p:cNvSpPr>
          <p:nvPr>
            <p:ph type="body" idx="4"/>
          </p:nvPr>
        </p:nvSpPr>
        <p:spPr>
          <a:xfrm>
            <a:off x="0" y="1085850"/>
            <a:ext cx="12192000" cy="5600700"/>
          </a:xfrm>
        </p:spPr>
        <p:txBody>
          <a:bodyPr>
            <a:normAutofit lnSpcReduction="10000"/>
          </a:bodyPr>
          <a:lstStyle/>
          <a:p>
            <a:pPr marL="285750" marR="191770" indent="-285750">
              <a:lnSpc>
                <a:spcPct val="108000"/>
              </a:lnSpc>
              <a:spcBef>
                <a:spcPts val="1005"/>
              </a:spcBef>
            </a:pPr>
            <a:r>
              <a:rPr lang="en-US" sz="2000" dirty="0">
                <a:effectLst/>
                <a:latin typeface="Times New Roman" panose="02020603050405020304" pitchFamily="18" charset="0"/>
                <a:ea typeface="Times New Roman" panose="02020603050405020304" pitchFamily="18" charset="0"/>
              </a:rPr>
              <a:t>In today's digital age, credit card fraud has become a prevalent concern, threatening the security of financial transactions and the trust between consumers and financial institutions. Credit card fraud detection projects play a vital role in mitigating these risks and safeguarding the interests of both cardholders and financial institutions. The future of credit card fraud detection lies in the integration of advanced technologies and innovative approaches. Machine learning and artificial intelligence algorithms have demonstrated great potential in detecting fraudulent activities by learning patterns from large datasets. </a:t>
            </a:r>
          </a:p>
          <a:p>
            <a:pPr marL="285750" marR="191770" indent="-285750">
              <a:lnSpc>
                <a:spcPct val="108000"/>
              </a:lnSpc>
              <a:spcBef>
                <a:spcPts val="1005"/>
              </a:spcBef>
            </a:pPr>
            <a:r>
              <a:rPr lang="en-US" sz="2000" dirty="0">
                <a:effectLst/>
                <a:latin typeface="Times New Roman" panose="02020603050405020304" pitchFamily="18" charset="0"/>
                <a:ea typeface="Times New Roman" panose="02020603050405020304" pitchFamily="18" charset="0"/>
              </a:rPr>
              <a:t>Deep learning techniques, such as convolutional neural networks (CNNs) and recurrent neural networks (RNNs), offer exciting possibilities for credit card fraud detection.  Real-time monitoring enhances fraud detection accuracy and minimizes the impact of fraudulent transactions, reducing financial losses for both cardholders and financial institutions. Behavior-based analysis is gaining traction as an effective approach to fraud detection. Analyzing user behavior provides a personalized and dynamic approach to fraud detection, enabling early detection and mitigation of fraudulent activities. By incorporating biometric authentication into the fraud detection process, the risk of fraudulent transactions can be significantly reduced. Collaboration and data sharing among financial institutions and credit card companies present a significant opportunity to improve fraud detection capabilities. By sharing anonymized data and leveraging data fusion techniques, a comprehensive view of fraudulent activities can be obtained. This collaborative effort enables the identification of fraud patterns that span multiple accounts or institutions, empowering proactive measures to prevent fraud on a larger scale.</a:t>
            </a:r>
          </a:p>
        </p:txBody>
      </p:sp>
    </p:spTree>
    <p:extLst>
      <p:ext uri="{BB962C8B-B14F-4D97-AF65-F5344CB8AC3E}">
        <p14:creationId xmlns:p14="http://schemas.microsoft.com/office/powerpoint/2010/main" val="2481118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194C1A2-DC52-5C71-369A-428FADCFEBB0}"/>
              </a:ext>
            </a:extLst>
          </p:cNvPr>
          <p:cNvSpPr>
            <a:spLocks noGrp="1"/>
          </p:cNvSpPr>
          <p:nvPr>
            <p:ph type="body" idx="2"/>
          </p:nvPr>
        </p:nvSpPr>
        <p:spPr>
          <a:xfrm>
            <a:off x="77788" y="1190624"/>
            <a:ext cx="12114212" cy="5476875"/>
          </a:xfrm>
        </p:spPr>
        <p:txBody>
          <a:bodyPr>
            <a:normAutofit/>
          </a:bodyPr>
          <a:lstStyle/>
          <a:p>
            <a:r>
              <a:rPr lang="en-US" sz="2800" dirty="0">
                <a:effectLst/>
                <a:latin typeface="Times New Roman" panose="02020603050405020304" pitchFamily="18" charset="0"/>
                <a:ea typeface="Times New Roman" panose="02020603050405020304" pitchFamily="18" charset="0"/>
              </a:rPr>
              <a:t>In conclusion, credit card fraud detection projects have a bright future ahead, driven by the continuous advancement of technology and the adoption of innovative approaches. By integrating machine learning, deep learning, real-time monitoring, behavior-based analysis, biometric authentication, collaborative efforts, advanced data analytics, explainable AI, and stringent data privacy measures, credit card fraud detection systems can become more accurate, efficient, and resilient. These advancements will contribute to a safer and more secure environment for credit card transactions, instilling confidence in consumers and financial institutions alike.</a:t>
            </a:r>
            <a:endParaRPr lang="en-US" dirty="0"/>
          </a:p>
          <a:p>
            <a:endParaRPr lang="en-US" dirty="0"/>
          </a:p>
        </p:txBody>
      </p:sp>
    </p:spTree>
    <p:extLst>
      <p:ext uri="{BB962C8B-B14F-4D97-AF65-F5344CB8AC3E}">
        <p14:creationId xmlns:p14="http://schemas.microsoft.com/office/powerpoint/2010/main" val="5101608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2D9685-1400-ADB5-5EC7-4E8FDDF92B0D}"/>
              </a:ext>
            </a:extLst>
          </p:cNvPr>
          <p:cNvSpPr/>
          <p:nvPr/>
        </p:nvSpPr>
        <p:spPr>
          <a:xfrm>
            <a:off x="1762125" y="2767280"/>
            <a:ext cx="8667750" cy="1323439"/>
          </a:xfrm>
          <a:prstGeom prst="rect">
            <a:avLst/>
          </a:prstGeom>
          <a:noFill/>
        </p:spPr>
        <p:txBody>
          <a:bodyPr wrap="square" lIns="91440" tIns="45720" rIns="91440" bIns="45720">
            <a:spAutoFit/>
          </a:bodyPr>
          <a:lstStyle/>
          <a:p>
            <a:pPr algn="ctr"/>
            <a:r>
              <a:rPr lang="en-US" sz="8000" b="0" cap="none" spc="0" dirty="0">
                <a:ln w="0"/>
                <a:solidFill>
                  <a:schemeClr val="tx1"/>
                </a:solidFill>
                <a:effectLst>
                  <a:outerShdw blurRad="38100" dist="19050" dir="2700000" algn="tl" rotWithShape="0">
                    <a:schemeClr val="dk1">
                      <a:alpha val="40000"/>
                    </a:schemeClr>
                  </a:outerShdw>
                </a:effectLst>
                <a:latin typeface="Comic Sans MS" panose="030F0702030302020204" pitchFamily="66" charset="0"/>
              </a:rPr>
              <a:t>THANK YOU!</a:t>
            </a:r>
          </a:p>
        </p:txBody>
      </p:sp>
    </p:spTree>
    <p:extLst>
      <p:ext uri="{BB962C8B-B14F-4D97-AF65-F5344CB8AC3E}">
        <p14:creationId xmlns:p14="http://schemas.microsoft.com/office/powerpoint/2010/main" val="33390885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C3F9B-4E5A-86A0-1FC8-552BFFB21923}"/>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F20048D-ED7F-011B-9EAB-9CD5BF0EBC50}"/>
              </a:ext>
            </a:extLst>
          </p:cNvPr>
          <p:cNvSpPr>
            <a:spLocks noGrp="1"/>
          </p:cNvSpPr>
          <p:nvPr>
            <p:ph type="body" idx="1"/>
          </p:nvPr>
        </p:nvSpPr>
        <p:spPr/>
        <p:txBody>
          <a:bodyPr/>
          <a:lstStyle/>
          <a:p>
            <a:endParaRPr lang="en-US"/>
          </a:p>
        </p:txBody>
      </p:sp>
      <p:sp>
        <p:nvSpPr>
          <p:cNvPr id="4" name="Text Placeholder 3">
            <a:extLst>
              <a:ext uri="{FF2B5EF4-FFF2-40B4-BE49-F238E27FC236}">
                <a16:creationId xmlns:a16="http://schemas.microsoft.com/office/drawing/2014/main" id="{641C0ED6-9D60-0518-5043-135FDE855B0E}"/>
              </a:ext>
            </a:extLst>
          </p:cNvPr>
          <p:cNvSpPr>
            <a:spLocks noGrp="1"/>
          </p:cNvSpPr>
          <p:nvPr>
            <p:ph type="body" idx="2"/>
          </p:nvPr>
        </p:nvSpPr>
        <p:spPr/>
        <p:txBody>
          <a:bodyPr/>
          <a:lstStyle/>
          <a:p>
            <a:endParaRPr lang="en-US"/>
          </a:p>
        </p:txBody>
      </p:sp>
      <p:sp>
        <p:nvSpPr>
          <p:cNvPr id="5" name="Text Placeholder 4">
            <a:extLst>
              <a:ext uri="{FF2B5EF4-FFF2-40B4-BE49-F238E27FC236}">
                <a16:creationId xmlns:a16="http://schemas.microsoft.com/office/drawing/2014/main" id="{5DFA29E6-773B-0DC7-5BD9-AAA4088D32C8}"/>
              </a:ext>
            </a:extLst>
          </p:cNvPr>
          <p:cNvSpPr>
            <a:spLocks noGrp="1"/>
          </p:cNvSpPr>
          <p:nvPr>
            <p:ph type="body" idx="3"/>
          </p:nvPr>
        </p:nvSpPr>
        <p:spPr/>
        <p:txBody>
          <a:bodyPr/>
          <a:lstStyle/>
          <a:p>
            <a:endParaRPr lang="en-US"/>
          </a:p>
        </p:txBody>
      </p:sp>
      <p:sp>
        <p:nvSpPr>
          <p:cNvPr id="6" name="Text Placeholder 5">
            <a:extLst>
              <a:ext uri="{FF2B5EF4-FFF2-40B4-BE49-F238E27FC236}">
                <a16:creationId xmlns:a16="http://schemas.microsoft.com/office/drawing/2014/main" id="{2C59F0BB-0475-B8D4-2B8D-068B426417E0}"/>
              </a:ext>
            </a:extLst>
          </p:cNvPr>
          <p:cNvSpPr>
            <a:spLocks noGrp="1"/>
          </p:cNvSpPr>
          <p:nvPr>
            <p:ph type="body" idx="4"/>
          </p:nvPr>
        </p:nvSpPr>
        <p:spPr/>
        <p:txBody>
          <a:bodyPr/>
          <a:lstStyle/>
          <a:p>
            <a:endParaRPr lang="en-US"/>
          </a:p>
        </p:txBody>
      </p:sp>
    </p:spTree>
    <p:extLst>
      <p:ext uri="{BB962C8B-B14F-4D97-AF65-F5344CB8AC3E}">
        <p14:creationId xmlns:p14="http://schemas.microsoft.com/office/powerpoint/2010/main" val="1592742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735B8-999E-6567-F8A6-23223A2B1266}"/>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DDBEC88-8CF6-82F9-4EE7-60EF2A408BEB}"/>
              </a:ext>
            </a:extLst>
          </p:cNvPr>
          <p:cNvSpPr>
            <a:spLocks noGrp="1"/>
          </p:cNvSpPr>
          <p:nvPr>
            <p:ph type="body" idx="1"/>
          </p:nvPr>
        </p:nvSpPr>
        <p:spPr/>
        <p:txBody>
          <a:bodyPr/>
          <a:lstStyle/>
          <a:p>
            <a:endParaRPr lang="en-US"/>
          </a:p>
        </p:txBody>
      </p:sp>
      <p:sp>
        <p:nvSpPr>
          <p:cNvPr id="4" name="Text Placeholder 3">
            <a:extLst>
              <a:ext uri="{FF2B5EF4-FFF2-40B4-BE49-F238E27FC236}">
                <a16:creationId xmlns:a16="http://schemas.microsoft.com/office/drawing/2014/main" id="{9A255FA6-6847-F98D-0355-5B990C43B1ED}"/>
              </a:ext>
            </a:extLst>
          </p:cNvPr>
          <p:cNvSpPr>
            <a:spLocks noGrp="1"/>
          </p:cNvSpPr>
          <p:nvPr>
            <p:ph type="body" idx="2"/>
          </p:nvPr>
        </p:nvSpPr>
        <p:spPr/>
        <p:txBody>
          <a:bodyPr/>
          <a:lstStyle/>
          <a:p>
            <a:endParaRPr lang="en-US"/>
          </a:p>
        </p:txBody>
      </p:sp>
      <p:sp>
        <p:nvSpPr>
          <p:cNvPr id="5" name="Text Placeholder 4">
            <a:extLst>
              <a:ext uri="{FF2B5EF4-FFF2-40B4-BE49-F238E27FC236}">
                <a16:creationId xmlns:a16="http://schemas.microsoft.com/office/drawing/2014/main" id="{A3E86CA6-D172-5BC3-95B9-224A93DDE22E}"/>
              </a:ext>
            </a:extLst>
          </p:cNvPr>
          <p:cNvSpPr>
            <a:spLocks noGrp="1"/>
          </p:cNvSpPr>
          <p:nvPr>
            <p:ph type="body" idx="3"/>
          </p:nvPr>
        </p:nvSpPr>
        <p:spPr/>
        <p:txBody>
          <a:bodyPr/>
          <a:lstStyle/>
          <a:p>
            <a:endParaRPr lang="en-US"/>
          </a:p>
        </p:txBody>
      </p:sp>
      <p:sp>
        <p:nvSpPr>
          <p:cNvPr id="6" name="Text Placeholder 5">
            <a:extLst>
              <a:ext uri="{FF2B5EF4-FFF2-40B4-BE49-F238E27FC236}">
                <a16:creationId xmlns:a16="http://schemas.microsoft.com/office/drawing/2014/main" id="{847431FB-B6F8-EE4A-0281-8BCCF4063354}"/>
              </a:ext>
            </a:extLst>
          </p:cNvPr>
          <p:cNvSpPr>
            <a:spLocks noGrp="1"/>
          </p:cNvSpPr>
          <p:nvPr>
            <p:ph type="body" idx="4"/>
          </p:nvPr>
        </p:nvSpPr>
        <p:spPr/>
        <p:txBody>
          <a:bodyPr/>
          <a:lstStyle/>
          <a:p>
            <a:endParaRPr lang="en-US"/>
          </a:p>
        </p:txBody>
      </p:sp>
    </p:spTree>
    <p:extLst>
      <p:ext uri="{BB962C8B-B14F-4D97-AF65-F5344CB8AC3E}">
        <p14:creationId xmlns:p14="http://schemas.microsoft.com/office/powerpoint/2010/main" val="2846381403"/>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7375</TotalTime>
  <Words>1363</Words>
  <Application>Microsoft Office PowerPoint</Application>
  <PresentationFormat>Widescreen</PresentationFormat>
  <Paragraphs>58</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Times</vt:lpstr>
      <vt:lpstr>Times New Roman</vt:lpstr>
      <vt:lpstr>Arial</vt:lpstr>
      <vt:lpstr>Calibri</vt:lpstr>
      <vt:lpstr>Comic Sans MS</vt:lpstr>
      <vt:lpstr>Office Theme</vt:lpstr>
      <vt:lpstr>   Practicum Presentation:2nd Defense Topic: Credit Card Fraud Detection</vt:lpstr>
      <vt:lpstr>Index of Contents</vt:lpstr>
      <vt:lpstr>1. Introduction &amp; Motivation</vt:lpstr>
      <vt:lpstr>1. Introduction &amp; Motivation</vt:lpstr>
      <vt:lpstr>2. Problem Statement</vt:lpstr>
      <vt:lpstr>3. Background Study</vt:lpstr>
      <vt:lpstr>3. Background Study</vt:lpstr>
      <vt:lpstr>4. Project Progress </vt:lpstr>
      <vt:lpstr>4. Project Progress </vt:lpstr>
      <vt:lpstr>4. Project Progress </vt:lpstr>
      <vt:lpstr>4. Project Progress </vt:lpstr>
      <vt:lpstr>4. Project Progress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Machine Learning Techniques used</vt:lpstr>
      <vt:lpstr>PowerPoint Presentation</vt:lpstr>
      <vt:lpstr>Conclusion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Harendra Nath Tiwari</dc:creator>
  <cp:lastModifiedBy>Kd</cp:lastModifiedBy>
  <cp:revision>547</cp:revision>
  <dcterms:created xsi:type="dcterms:W3CDTF">2012-01-31T02:41:24Z</dcterms:created>
  <dcterms:modified xsi:type="dcterms:W3CDTF">2023-06-30T06:56:51Z</dcterms:modified>
</cp:coreProperties>
</file>